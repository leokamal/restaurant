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Je vais vous présenter Riad Saveurs, une plateforme web de commande en ligne dédiée à la cuisine marocaine traditionnelle, développée avec Laravel 12. Le projet propose une expérience client fluide et un espace de gestion sécurisé pour le gérant, disponible en français, anglais et arabe.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déroulé : d'abord une introduction qui pose le problème de départ et la solution ; puis les quatre problématiques métier détaillées et leurs solutions ; ensuite une présentation de l'application elle-même ; les outils utilisés ; et enfin la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J'entre dans la première partie : l'introduction, qui part d'un constat simple pour amener la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dernières années, les habitudes ont changé : la plupart des clients commandent désormais leurs repas en ligne, depuis leur téléphone, plutôt que de se déplacer ou d'appeler le restaurant. Pourtant, beaucoup de restaurants traditionnels, notamment de cuisine marocaine, n'ont toujours pas de canal de commande digital et gèrent encore leurs commandes manuellement. C'est pour cela que notre application Riad Saveurs permet aux clients de découvrir la carte et de commander leurs plats marocains préférés en quelques étapes, sans perdre de temps et sans créer de compte.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poursuit quatre objectifs : offrir une expérience client sans friction en quatre étapes ; doter le gérant d'un outil de gestion autonome et sécurisé en temps réel ; rendre le service accessible à l'international grâce au multilingue ; et valoriser le patrimoine culinaire marocain par un design soigné aux couleurs chaudes.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partie, le cœur du sujet : les quatre problématiques métier rencontrées et les solutions techniques proposées.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identifié quatre problématiques métier majeures. Pour chacune, une solution concrète a été mise en œuvre. Ce tableau les résume avant le détail.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problématique : le parcours d'achat. Imposer la création d'un compte génère des abandons. L'objectif était un parcours aussi simple et rapide que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solution : un parcours en quatre étapes sans inscription. Le panier vit en session. L'ajout et les quantités se font en AJAX, donc sans rechargement. Et le client est identifié par son téléphone, ce qui évite les doublons sans imposer de mot de passe.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problématique, un point bloquant : l'accès admin était totalement libre. N'importe quel visiteur pouvait gérer la carte et les commandes. Risque de sécurité majeur.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solution s'appuie sur l'authentification Laravel avec un écran de connexion. Deux rôles : admin et operator, limité aux commandes. Des middlewares renvoient une 403 si besoin. Et plusieurs mesures de durcissement : limitation des tentatives, régénération de session, vérification du rôle, protection contre le mass-assignment.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problématique : l'intégrité des données. Si le gérant modifie un prix, les commandes passées ne doivent pas changer. Et une commande ne doit jamais être enregistrée partiellement.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fige le prix unitaire dans la ligne au moment de l'achat. La création se fait dans une transaction atomique : tout ou rien. Chaque changement de statut est journalisé. Et une suppression défensive empêche d'effacer un plat commandé ou une catégorie non 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Dernière problématique : le restaurant vise une clientèle variée. L'interface devait être multilingue, et notamment en arabe, qui s'écrit de droite à gauche.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L'interface est traduite en français, anglais et arabe, avec le français comme clé pour réduire la maintenance. Le support droite-à-gauche est complet. Un middleware applique la langue à chaque requête et localise les dates. Un sélecteur de langue est présent partout.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partie : la présentation de l'application elle-même, ses deux espaces et leurs fonctionnalités.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L'application s'organise en deux espaces complémentaires : un espace client, la vitrine gastronomique tournée vers la commande ; et un espace gérant, un back-office protégé pour piloter tout le restaurant.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client, le parcours se déroule en quatre étapes. D'abord le menu, organisé par catégories avec recherche. Ensuite le détail d'un plat, avec ses ingrédients et des plats similaires. Puis le panier, en session, modifiable en AJAX. Et enfin la commande avec l'adresse de livraison, suivie d'un écran de suivi du statut, étape par étape.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gérant, le back-office offre un tableau de bord avec les indicateurs clés — chiffre d'affaires, top des plats, commandes par statut. Le gérant gère la carte, les catégories et les clients en CRUD complet. Il pilote les commandes et leurs statuts en temps réel. Et il gère l'équipe : création de comptes gérants ou opérateurs, activation ou désactivation.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partie : les outils et technologies utilisés.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backend repose sur PHP 8.2 et Laravel 12 avec l'ORM Eloquent. Le frontend utilise Blade, Vite 7 et Tailwind CSS 4, avec du JavaScript vanilla pour l'AJAX. La base est SQLite par défaut, avec bascule MySQL possible. L'authentification, le multilingue et les tests s'appuient sur les briques standard de Laravel et PHPUnit.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Laravel apporte un cadre MVC robuste avec sécurité intégrée. SQLite permet un démarrage immédiat sans serveur de base de données. Tailwind et Vite offrent un design rapide et responsive. Le panier en session évite une table superflue. Et l'internationalisation par clés françaises minimise les fichiers à maintenir.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J'arrive à la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Riad Saveurs est une application fonctionnellement complète, sécurisée et multilingue. Elle couvre tout le parcours client et toute la gestion gérant en appliquant de bonnes pratiques. Surtout, le point bloquant identifié au départ — l'absence de protection du back-office — est désormais résolu.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évolutions restantes relèvent du confort fonctionnel et non d'un prérequis de mise en production : notifications au client, paiement en ligne, espace client authentifié, ou traduction du contenu de la carte.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vous remercie de votre attention et je suis à votre disposition pour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4EA"/>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B14A28"/>
          </a:solidFill>
          <a:ln/>
        </p:spPr>
      </p:sp>
      <p:sp>
        <p:nvSpPr>
          <p:cNvPr id="3" name="Shape 1"/>
          <p:cNvSpPr/>
          <p:nvPr/>
        </p:nvSpPr>
        <p:spPr>
          <a:xfrm>
            <a:off x="3200400" y="0"/>
            <a:ext cx="73152" cy="5143500"/>
          </a:xfrm>
          <a:prstGeom prst="rect">
            <a:avLst/>
          </a:prstGeom>
          <a:solidFill>
            <a:srgbClr val="E8A33D"/>
          </a:solidFill>
          <a:ln/>
        </p:spPr>
      </p:sp>
      <p:sp>
        <p:nvSpPr>
          <p:cNvPr id="4" name="Text 2"/>
          <p:cNvSpPr/>
          <p:nvPr/>
        </p:nvSpPr>
        <p:spPr>
          <a:xfrm>
            <a:off x="274320" y="1737360"/>
            <a:ext cx="2743200" cy="640080"/>
          </a:xfrm>
          <a:prstGeom prst="rect">
            <a:avLst/>
          </a:prstGeom>
          <a:noFill/>
          <a:ln/>
        </p:spPr>
        <p:txBody>
          <a:bodyPr wrap="square" rtlCol="0" anchor="ctr"/>
          <a:lstStyle/>
          <a:p>
            <a:pPr algn="ctr" indent="0" marL="0">
              <a:buNone/>
            </a:pPr>
            <a:r>
              <a:rPr lang="en-US" sz="4000" b="1" spc="400" kern="0" dirty="0">
                <a:solidFill>
                  <a:srgbClr val="FFFFFF"/>
                </a:solidFill>
                <a:latin typeface="Arial" pitchFamily="34" charset="0"/>
                <a:ea typeface="Arial" pitchFamily="34" charset="-122"/>
                <a:cs typeface="Arial" pitchFamily="34" charset="-120"/>
              </a:rPr>
              <a:t>RIAD</a:t>
            </a:r>
            <a:endParaRPr lang="en-US" sz="4000" dirty="0"/>
          </a:p>
        </p:txBody>
      </p:sp>
      <p:sp>
        <p:nvSpPr>
          <p:cNvPr id="5" name="Text 3"/>
          <p:cNvSpPr/>
          <p:nvPr/>
        </p:nvSpPr>
        <p:spPr>
          <a:xfrm>
            <a:off x="274320" y="2331720"/>
            <a:ext cx="2743200" cy="548640"/>
          </a:xfrm>
          <a:prstGeom prst="rect">
            <a:avLst/>
          </a:prstGeom>
          <a:noFill/>
          <a:ln/>
        </p:spPr>
        <p:txBody>
          <a:bodyPr wrap="square" rtlCol="0" anchor="ctr"/>
          <a:lstStyle/>
          <a:p>
            <a:pPr algn="ctr" indent="0" marL="0">
              <a:buNone/>
            </a:pPr>
            <a:r>
              <a:rPr lang="en-US" sz="2600" spc="600" kern="0" dirty="0">
                <a:solidFill>
                  <a:srgbClr val="FFE2CC"/>
                </a:solidFill>
                <a:latin typeface="Arial" pitchFamily="34" charset="0"/>
                <a:ea typeface="Arial" pitchFamily="34" charset="-122"/>
                <a:cs typeface="Arial" pitchFamily="34" charset="-120"/>
              </a:rPr>
              <a:t>SAVEURS</a:t>
            </a:r>
            <a:endParaRPr lang="en-US" sz="2600" dirty="0"/>
          </a:p>
        </p:txBody>
      </p:sp>
      <p:sp>
        <p:nvSpPr>
          <p:cNvPr id="6" name="Text 4"/>
          <p:cNvSpPr/>
          <p:nvPr/>
        </p:nvSpPr>
        <p:spPr>
          <a:xfrm>
            <a:off x="274320" y="3108960"/>
            <a:ext cx="2743200" cy="731520"/>
          </a:xfrm>
          <a:prstGeom prst="rect">
            <a:avLst/>
          </a:prstGeom>
          <a:noFill/>
          <a:ln/>
        </p:spPr>
        <p:txBody>
          <a:bodyPr wrap="square" rtlCol="0" anchor="ctr"/>
          <a:lstStyle/>
          <a:p>
            <a:pPr algn="ctr" indent="0" marL="0">
              <a:buNone/>
            </a:pPr>
            <a:r>
              <a:rPr lang="en-US" sz="1300" i="1" dirty="0">
                <a:solidFill>
                  <a:srgbClr val="FFE2CC"/>
                </a:solidFill>
                <a:latin typeface="Arial" pitchFamily="34" charset="0"/>
                <a:ea typeface="Arial" pitchFamily="34" charset="-122"/>
                <a:cs typeface="Arial" pitchFamily="34" charset="-120"/>
              </a:rPr>
              <a:t>Cuisine marocaine</a:t>
            </a:r>
            <a:endParaRPr lang="en-US" sz="1300" dirty="0"/>
          </a:p>
          <a:p>
            <a:pPr algn="ctr" indent="0" marL="0">
              <a:buNone/>
            </a:pPr>
            <a:r>
              <a:rPr lang="en-US" sz="1300" i="1" dirty="0">
                <a:solidFill>
                  <a:srgbClr val="FFE2CC"/>
                </a:solidFill>
                <a:latin typeface="Arial" pitchFamily="34" charset="0"/>
                <a:ea typeface="Arial" pitchFamily="34" charset="-122"/>
                <a:cs typeface="Arial" pitchFamily="34" charset="-120"/>
              </a:rPr>
              <a:t>traditionnelle</a:t>
            </a:r>
            <a:endParaRPr lang="en-US" sz="1300" dirty="0"/>
          </a:p>
        </p:txBody>
      </p:sp>
      <p:sp>
        <p:nvSpPr>
          <p:cNvPr id="7" name="Text 5"/>
          <p:cNvSpPr/>
          <p:nvPr/>
        </p:nvSpPr>
        <p:spPr>
          <a:xfrm>
            <a:off x="3611880" y="777240"/>
            <a:ext cx="5212080" cy="365760"/>
          </a:xfrm>
          <a:prstGeom prst="rect">
            <a:avLst/>
          </a:prstGeom>
          <a:noFill/>
          <a:ln/>
        </p:spPr>
        <p:txBody>
          <a:bodyPr wrap="square" rtlCol="0" anchor="ctr"/>
          <a:lstStyle/>
          <a:p>
            <a:pPr indent="0" marL="0">
              <a:buNone/>
            </a:pPr>
            <a:r>
              <a:rPr lang="en-US" sz="1300" b="1" spc="200" kern="0" dirty="0">
                <a:solidFill>
                  <a:srgbClr val="C8852A"/>
                </a:solidFill>
                <a:latin typeface="Arial" pitchFamily="34" charset="0"/>
                <a:ea typeface="Arial" pitchFamily="34" charset="-122"/>
                <a:cs typeface="Arial" pitchFamily="34" charset="-120"/>
              </a:rPr>
              <a:t>Présentation du projet</a:t>
            </a:r>
            <a:endParaRPr lang="en-US" sz="1300" dirty="0"/>
          </a:p>
        </p:txBody>
      </p:sp>
      <p:sp>
        <p:nvSpPr>
          <p:cNvPr id="8" name="Text 6"/>
          <p:cNvSpPr/>
          <p:nvPr/>
        </p:nvSpPr>
        <p:spPr>
          <a:xfrm>
            <a:off x="3566160" y="1143000"/>
            <a:ext cx="5349240" cy="1280160"/>
          </a:xfrm>
          <a:prstGeom prst="rect">
            <a:avLst/>
          </a:prstGeom>
          <a:noFill/>
          <a:ln/>
        </p:spPr>
        <p:txBody>
          <a:bodyPr wrap="square" rtlCol="0" anchor="ctr"/>
          <a:lstStyle/>
          <a:p>
            <a:pPr indent="0" marL="0">
              <a:lnSpc>
                <a:spcPct val="100000"/>
              </a:lnSpc>
              <a:buNone/>
            </a:pPr>
            <a:r>
              <a:rPr lang="en-US" sz="3200" b="1" dirty="0">
                <a:solidFill>
                  <a:srgbClr val="2B2B2B"/>
                </a:solidFill>
                <a:latin typeface="Arial" pitchFamily="34" charset="0"/>
                <a:ea typeface="Arial" pitchFamily="34" charset="-122"/>
                <a:cs typeface="Arial" pitchFamily="34" charset="-120"/>
              </a:rPr>
              <a:t>Plateforme de commande</a:t>
            </a:r>
            <a:endParaRPr lang="en-US" sz="3200" dirty="0"/>
          </a:p>
          <a:p>
            <a:pPr indent="0" marL="0">
              <a:lnSpc>
                <a:spcPct val="100000"/>
              </a:lnSpc>
              <a:buNone/>
            </a:pPr>
            <a:r>
              <a:rPr lang="en-US" sz="3200" b="1" dirty="0">
                <a:solidFill>
                  <a:srgbClr val="2B2B2B"/>
                </a:solidFill>
                <a:latin typeface="Arial" pitchFamily="34" charset="0"/>
                <a:ea typeface="Arial" pitchFamily="34" charset="-122"/>
                <a:cs typeface="Arial" pitchFamily="34" charset="-120"/>
              </a:rPr>
              <a:t>en ligne</a:t>
            </a:r>
            <a:endParaRPr lang="en-US" sz="3200" dirty="0"/>
          </a:p>
        </p:txBody>
      </p:sp>
      <p:sp>
        <p:nvSpPr>
          <p:cNvPr id="9" name="Text 7"/>
          <p:cNvSpPr/>
          <p:nvPr/>
        </p:nvSpPr>
        <p:spPr>
          <a:xfrm>
            <a:off x="3611880" y="2514600"/>
            <a:ext cx="5212080" cy="822960"/>
          </a:xfrm>
          <a:prstGeom prst="rect">
            <a:avLst/>
          </a:prstGeom>
          <a:noFill/>
          <a:ln/>
        </p:spPr>
        <p:txBody>
          <a:bodyPr wrap="square" rtlCol="0" anchor="ctr"/>
          <a:lstStyle/>
          <a:p>
            <a:pPr indent="0" marL="0">
              <a:buNone/>
            </a:pPr>
            <a:r>
              <a:rPr lang="en-US" sz="1300" dirty="0">
                <a:solidFill>
                  <a:srgbClr val="6B6B6B"/>
                </a:solidFill>
                <a:latin typeface="Arial" pitchFamily="34" charset="0"/>
                <a:ea typeface="Arial" pitchFamily="34" charset="-122"/>
                <a:cs typeface="Arial" pitchFamily="34" charset="-120"/>
              </a:rPr>
              <a:t>Application web Laravel 12 — Front-office client &amp; Back-office gérant sécurisé, disponible en français, anglais et arabe (RTL).</a:t>
            </a:r>
            <a:endParaRPr lang="en-US" sz="1300" dirty="0"/>
          </a:p>
        </p:txBody>
      </p:sp>
      <p:sp>
        <p:nvSpPr>
          <p:cNvPr id="10" name="Shape 8"/>
          <p:cNvSpPr/>
          <p:nvPr/>
        </p:nvSpPr>
        <p:spPr>
          <a:xfrm>
            <a:off x="3611880" y="3611880"/>
            <a:ext cx="5029200" cy="0"/>
          </a:xfrm>
          <a:prstGeom prst="line">
            <a:avLst/>
          </a:prstGeom>
          <a:noFill/>
          <a:ln w="19050">
            <a:solidFill>
              <a:srgbClr val="E8A33D"/>
            </a:solidFill>
            <a:prstDash val="solid"/>
          </a:ln>
        </p:spPr>
      </p:sp>
      <p:sp>
        <p:nvSpPr>
          <p:cNvPr id="11" name="Text 9"/>
          <p:cNvSpPr/>
          <p:nvPr/>
        </p:nvSpPr>
        <p:spPr>
          <a:xfrm>
            <a:off x="3611880" y="3749040"/>
            <a:ext cx="5212080" cy="1097280"/>
          </a:xfrm>
          <a:prstGeom prst="rect">
            <a:avLst/>
          </a:prstGeom>
          <a:noFill/>
          <a:ln/>
        </p:spPr>
        <p:txBody>
          <a:bodyPr wrap="square" rtlCol="0" anchor="ctr"/>
          <a:lstStyle/>
          <a:p>
            <a:pPr indent="0" marL="0">
              <a:lnSpc>
                <a:spcPct val="115000"/>
              </a:lnSpc>
              <a:buNone/>
            </a:pPr>
            <a:r>
              <a:rPr lang="en-US" sz="1200" b="1" dirty="0">
                <a:solidFill>
                  <a:srgbClr val="2B2B2B"/>
                </a:solidFill>
                <a:latin typeface="Arial" pitchFamily="34" charset="0"/>
                <a:ea typeface="Arial" pitchFamily="34" charset="-122"/>
                <a:cs typeface="Arial" pitchFamily="34" charset="-120"/>
              </a:rPr>
              <a:t>Réalisé par : </a:t>
            </a:r>
            <a:pPr indent="0" marL="0">
              <a:lnSpc>
                <a:spcPct val="115000"/>
              </a:lnSpc>
              <a:buNone/>
            </a:pPr>
            <a:r>
              <a:rPr lang="en-US" sz="1200" dirty="0">
                <a:solidFill>
                  <a:srgbClr val="2B2B2B"/>
                </a:solidFill>
                <a:latin typeface="Arial" pitchFamily="34" charset="0"/>
                <a:ea typeface="Arial" pitchFamily="34" charset="-122"/>
                <a:cs typeface="Arial" pitchFamily="34" charset="-120"/>
              </a:rPr>
              <a:t>Kamal EL MAGOURI
</a:t>
            </a:r>
            <a:pPr indent="0" marL="0">
              <a:lnSpc>
                <a:spcPct val="115000"/>
              </a:lnSpc>
              <a:buNone/>
            </a:pPr>
            <a:r>
              <a:rPr lang="en-US" sz="1200" b="1" dirty="0">
                <a:solidFill>
                  <a:srgbClr val="2B2B2B"/>
                </a:solidFill>
                <a:latin typeface="Arial" pitchFamily="34" charset="0"/>
                <a:ea typeface="Arial" pitchFamily="34" charset="-122"/>
                <a:cs typeface="Arial" pitchFamily="34" charset="-120"/>
              </a:rPr>
              <a:t>Stack : </a:t>
            </a:r>
            <a:pPr indent="0" marL="0">
              <a:lnSpc>
                <a:spcPct val="115000"/>
              </a:lnSpc>
              <a:buNone/>
            </a:pPr>
            <a:r>
              <a:rPr lang="en-US" sz="1200" dirty="0">
                <a:solidFill>
                  <a:srgbClr val="6B6B6B"/>
                </a:solidFill>
                <a:latin typeface="Arial" pitchFamily="34" charset="0"/>
                <a:ea typeface="Arial" pitchFamily="34" charset="-122"/>
                <a:cs typeface="Arial" pitchFamily="34" charset="-120"/>
              </a:rPr>
              <a:t>Laravel 12 · PHP 8.2+ · Vite 7 · Tailwind CSS 4
</a:t>
            </a:r>
            <a:pPr indent="0" marL="0">
              <a:lnSpc>
                <a:spcPct val="115000"/>
              </a:lnSpc>
              <a:buNone/>
            </a:pPr>
            <a:r>
              <a:rPr lang="en-US" sz="1200" b="1" dirty="0">
                <a:solidFill>
                  <a:srgbClr val="2B2B2B"/>
                </a:solidFill>
                <a:latin typeface="Arial" pitchFamily="34" charset="0"/>
                <a:ea typeface="Arial" pitchFamily="34" charset="-122"/>
                <a:cs typeface="Arial" pitchFamily="34" charset="-120"/>
              </a:rPr>
              <a:t>Année : </a:t>
            </a:r>
            <a:pPr indent="0" marL="0">
              <a:lnSpc>
                <a:spcPct val="115000"/>
              </a:lnSpc>
              <a:buNone/>
            </a:pPr>
            <a:r>
              <a:rPr lang="en-US" sz="1200" dirty="0">
                <a:solidFill>
                  <a:srgbClr val="6B6B6B"/>
                </a:solidFill>
                <a:latin typeface="Arial" pitchFamily="34" charset="0"/>
                <a:ea typeface="Arial" pitchFamily="34" charset="-122"/>
                <a:cs typeface="Arial" pitchFamily="34" charset="-120"/>
              </a:rPr>
              <a:t>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B14A28"/>
          </a:solidFill>
          <a:ln/>
        </p:spPr>
      </p:sp>
      <p:sp>
        <p:nvSpPr>
          <p:cNvPr id="3" name="Shape 1"/>
          <p:cNvSpPr/>
          <p:nvPr/>
        </p:nvSpPr>
        <p:spPr>
          <a:xfrm>
            <a:off x="0" y="868680"/>
            <a:ext cx="9144000" cy="54864"/>
          </a:xfrm>
          <a:prstGeom prst="rect">
            <a:avLst/>
          </a:prstGeom>
          <a:solidFill>
            <a:srgbClr val="E8A33D"/>
          </a:solidFill>
          <a:ln/>
        </p:spPr>
      </p:sp>
      <p:sp>
        <p:nvSpPr>
          <p:cNvPr id="4" name="Text 2"/>
          <p:cNvSpPr/>
          <p:nvPr/>
        </p:nvSpPr>
        <p:spPr>
          <a:xfrm>
            <a:off x="365760" y="164592"/>
            <a:ext cx="8229600" cy="502920"/>
          </a:xfrm>
          <a:prstGeom prst="rect">
            <a:avLst/>
          </a:prstGeom>
          <a:noFill/>
          <a:ln/>
        </p:spPr>
        <p:txBody>
          <a:bodyPr wrap="square" rtlCol="0" anchor="ctr"/>
          <a:lstStyle/>
          <a:p>
            <a:pPr indent="0" marL="0">
              <a:buNone/>
            </a:pPr>
            <a:r>
              <a:rPr lang="en-US" sz="2600" b="1" spc="300" kern="0" dirty="0">
                <a:solidFill>
                  <a:srgbClr val="FFFFFF"/>
                </a:solidFill>
                <a:latin typeface="Arial" pitchFamily="34" charset="0"/>
                <a:ea typeface="Arial" pitchFamily="34" charset="-122"/>
                <a:cs typeface="Arial" pitchFamily="34" charset="-120"/>
              </a:rPr>
              <a:t>PLAN</a:t>
            </a:r>
            <a:endParaRPr lang="en-US" sz="2600" dirty="0"/>
          </a:p>
        </p:txBody>
      </p:sp>
      <p:sp>
        <p:nvSpPr>
          <p:cNvPr id="5" name="Shape 3"/>
          <p:cNvSpPr/>
          <p:nvPr/>
        </p:nvSpPr>
        <p:spPr>
          <a:xfrm>
            <a:off x="731520" y="1188720"/>
            <a:ext cx="777240" cy="512064"/>
          </a:xfrm>
          <a:prstGeom prst="roundRect">
            <a:avLst>
              <a:gd name="adj" fmla="val 14286"/>
            </a:avLst>
          </a:prstGeom>
          <a:solidFill>
            <a:srgbClr val="B14A28"/>
          </a:solidFill>
          <a:ln/>
        </p:spPr>
      </p:sp>
      <p:sp>
        <p:nvSpPr>
          <p:cNvPr id="6" name="Text 4"/>
          <p:cNvSpPr/>
          <p:nvPr/>
        </p:nvSpPr>
        <p:spPr>
          <a:xfrm>
            <a:off x="731520" y="1188720"/>
            <a:ext cx="777240"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I</a:t>
            </a:r>
            <a:endParaRPr lang="en-US" sz="2000" dirty="0"/>
          </a:p>
        </p:txBody>
      </p:sp>
      <p:sp>
        <p:nvSpPr>
          <p:cNvPr id="7" name="Text 5"/>
          <p:cNvSpPr/>
          <p:nvPr/>
        </p:nvSpPr>
        <p:spPr>
          <a:xfrm>
            <a:off x="1783080" y="1188720"/>
            <a:ext cx="6675120" cy="512064"/>
          </a:xfrm>
          <a:prstGeom prst="rect">
            <a:avLst/>
          </a:prstGeom>
          <a:noFill/>
          <a:ln/>
        </p:spPr>
        <p:txBody>
          <a:bodyPr wrap="square" rtlCol="0" anchor="ctr"/>
          <a:lstStyle/>
          <a:p>
            <a:pPr indent="0" marL="0">
              <a:buNone/>
            </a:pPr>
            <a:r>
              <a:rPr lang="en-US" sz="1800" b="1" dirty="0">
                <a:solidFill>
                  <a:srgbClr val="2B2B2B"/>
                </a:solidFill>
                <a:latin typeface="Arial" pitchFamily="34" charset="0"/>
                <a:ea typeface="Arial" pitchFamily="34" charset="-122"/>
                <a:cs typeface="Arial" pitchFamily="34" charset="-120"/>
              </a:rPr>
              <a:t>Introduction</a:t>
            </a:r>
            <a:endParaRPr lang="en-US" sz="1800" dirty="0"/>
          </a:p>
        </p:txBody>
      </p:sp>
      <p:sp>
        <p:nvSpPr>
          <p:cNvPr id="8" name="Shape 6"/>
          <p:cNvSpPr/>
          <p:nvPr/>
        </p:nvSpPr>
        <p:spPr>
          <a:xfrm>
            <a:off x="1783080" y="1764792"/>
            <a:ext cx="6446520" cy="0"/>
          </a:xfrm>
          <a:prstGeom prst="line">
            <a:avLst/>
          </a:prstGeom>
          <a:noFill/>
          <a:ln w="12700">
            <a:solidFill>
              <a:srgbClr val="EADBC4"/>
            </a:solidFill>
            <a:prstDash val="solid"/>
          </a:ln>
        </p:spPr>
      </p:sp>
      <p:sp>
        <p:nvSpPr>
          <p:cNvPr id="9" name="Shape 7"/>
          <p:cNvSpPr/>
          <p:nvPr/>
        </p:nvSpPr>
        <p:spPr>
          <a:xfrm>
            <a:off x="731520" y="1865376"/>
            <a:ext cx="777240" cy="512064"/>
          </a:xfrm>
          <a:prstGeom prst="roundRect">
            <a:avLst>
              <a:gd name="adj" fmla="val 14286"/>
            </a:avLst>
          </a:prstGeom>
          <a:solidFill>
            <a:srgbClr val="C8852A"/>
          </a:solidFill>
          <a:ln/>
        </p:spPr>
      </p:sp>
      <p:sp>
        <p:nvSpPr>
          <p:cNvPr id="10" name="Text 8"/>
          <p:cNvSpPr/>
          <p:nvPr/>
        </p:nvSpPr>
        <p:spPr>
          <a:xfrm>
            <a:off x="731520" y="1865376"/>
            <a:ext cx="777240"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II</a:t>
            </a:r>
            <a:endParaRPr lang="en-US" sz="2000" dirty="0"/>
          </a:p>
        </p:txBody>
      </p:sp>
      <p:sp>
        <p:nvSpPr>
          <p:cNvPr id="11" name="Text 9"/>
          <p:cNvSpPr/>
          <p:nvPr/>
        </p:nvSpPr>
        <p:spPr>
          <a:xfrm>
            <a:off x="1783080" y="1865376"/>
            <a:ext cx="6675120" cy="512064"/>
          </a:xfrm>
          <a:prstGeom prst="rect">
            <a:avLst/>
          </a:prstGeom>
          <a:noFill/>
          <a:ln/>
        </p:spPr>
        <p:txBody>
          <a:bodyPr wrap="square" rtlCol="0" anchor="ctr"/>
          <a:lstStyle/>
          <a:p>
            <a:pPr indent="0" marL="0">
              <a:buNone/>
            </a:pPr>
            <a:r>
              <a:rPr lang="en-US" sz="1800" b="1" dirty="0">
                <a:solidFill>
                  <a:srgbClr val="2B2B2B"/>
                </a:solidFill>
                <a:latin typeface="Arial" pitchFamily="34" charset="0"/>
                <a:ea typeface="Arial" pitchFamily="34" charset="-122"/>
                <a:cs typeface="Arial" pitchFamily="34" charset="-120"/>
              </a:rPr>
              <a:t>Problématique et Solution Proposée</a:t>
            </a:r>
            <a:endParaRPr lang="en-US" sz="1800" dirty="0"/>
          </a:p>
        </p:txBody>
      </p:sp>
      <p:sp>
        <p:nvSpPr>
          <p:cNvPr id="12" name="Shape 10"/>
          <p:cNvSpPr/>
          <p:nvPr/>
        </p:nvSpPr>
        <p:spPr>
          <a:xfrm>
            <a:off x="1783080" y="2441448"/>
            <a:ext cx="6446520" cy="0"/>
          </a:xfrm>
          <a:prstGeom prst="line">
            <a:avLst/>
          </a:prstGeom>
          <a:noFill/>
          <a:ln w="12700">
            <a:solidFill>
              <a:srgbClr val="EADBC4"/>
            </a:solidFill>
            <a:prstDash val="solid"/>
          </a:ln>
        </p:spPr>
      </p:sp>
      <p:sp>
        <p:nvSpPr>
          <p:cNvPr id="13" name="Shape 11"/>
          <p:cNvSpPr/>
          <p:nvPr/>
        </p:nvSpPr>
        <p:spPr>
          <a:xfrm>
            <a:off x="731520" y="2542032"/>
            <a:ext cx="777240" cy="512064"/>
          </a:xfrm>
          <a:prstGeom prst="roundRect">
            <a:avLst>
              <a:gd name="adj" fmla="val 14286"/>
            </a:avLst>
          </a:prstGeom>
          <a:solidFill>
            <a:srgbClr val="B14A28"/>
          </a:solidFill>
          <a:ln/>
        </p:spPr>
      </p:sp>
      <p:sp>
        <p:nvSpPr>
          <p:cNvPr id="14" name="Text 12"/>
          <p:cNvSpPr/>
          <p:nvPr/>
        </p:nvSpPr>
        <p:spPr>
          <a:xfrm>
            <a:off x="731520" y="2542032"/>
            <a:ext cx="777240"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III</a:t>
            </a:r>
            <a:endParaRPr lang="en-US" sz="2000" dirty="0"/>
          </a:p>
        </p:txBody>
      </p:sp>
      <p:sp>
        <p:nvSpPr>
          <p:cNvPr id="15" name="Text 13"/>
          <p:cNvSpPr/>
          <p:nvPr/>
        </p:nvSpPr>
        <p:spPr>
          <a:xfrm>
            <a:off x="1783080" y="2542032"/>
            <a:ext cx="6675120" cy="512064"/>
          </a:xfrm>
          <a:prstGeom prst="rect">
            <a:avLst/>
          </a:prstGeom>
          <a:noFill/>
          <a:ln/>
        </p:spPr>
        <p:txBody>
          <a:bodyPr wrap="square" rtlCol="0" anchor="ctr"/>
          <a:lstStyle/>
          <a:p>
            <a:pPr indent="0" marL="0">
              <a:buNone/>
            </a:pPr>
            <a:r>
              <a:rPr lang="en-US" sz="1800" b="1" dirty="0">
                <a:solidFill>
                  <a:srgbClr val="2B2B2B"/>
                </a:solidFill>
                <a:latin typeface="Arial" pitchFamily="34" charset="0"/>
                <a:ea typeface="Arial" pitchFamily="34" charset="-122"/>
                <a:cs typeface="Arial" pitchFamily="34" charset="-120"/>
              </a:rPr>
              <a:t>Présentation de l'application</a:t>
            </a:r>
            <a:endParaRPr lang="en-US" sz="1800" dirty="0"/>
          </a:p>
        </p:txBody>
      </p:sp>
      <p:sp>
        <p:nvSpPr>
          <p:cNvPr id="16" name="Shape 14"/>
          <p:cNvSpPr/>
          <p:nvPr/>
        </p:nvSpPr>
        <p:spPr>
          <a:xfrm>
            <a:off x="1783080" y="3118104"/>
            <a:ext cx="6446520" cy="0"/>
          </a:xfrm>
          <a:prstGeom prst="line">
            <a:avLst/>
          </a:prstGeom>
          <a:noFill/>
          <a:ln w="12700">
            <a:solidFill>
              <a:srgbClr val="EADBC4"/>
            </a:solidFill>
            <a:prstDash val="solid"/>
          </a:ln>
        </p:spPr>
      </p:sp>
      <p:sp>
        <p:nvSpPr>
          <p:cNvPr id="17" name="Shape 15"/>
          <p:cNvSpPr/>
          <p:nvPr/>
        </p:nvSpPr>
        <p:spPr>
          <a:xfrm>
            <a:off x="731520" y="3218688"/>
            <a:ext cx="777240" cy="512064"/>
          </a:xfrm>
          <a:prstGeom prst="roundRect">
            <a:avLst>
              <a:gd name="adj" fmla="val 14286"/>
            </a:avLst>
          </a:prstGeom>
          <a:solidFill>
            <a:srgbClr val="C8852A"/>
          </a:solidFill>
          <a:ln/>
        </p:spPr>
      </p:sp>
      <p:sp>
        <p:nvSpPr>
          <p:cNvPr id="18" name="Text 16"/>
          <p:cNvSpPr/>
          <p:nvPr/>
        </p:nvSpPr>
        <p:spPr>
          <a:xfrm>
            <a:off x="731520" y="3218688"/>
            <a:ext cx="777240"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IV</a:t>
            </a:r>
            <a:endParaRPr lang="en-US" sz="2000" dirty="0"/>
          </a:p>
        </p:txBody>
      </p:sp>
      <p:sp>
        <p:nvSpPr>
          <p:cNvPr id="19" name="Text 17"/>
          <p:cNvSpPr/>
          <p:nvPr/>
        </p:nvSpPr>
        <p:spPr>
          <a:xfrm>
            <a:off x="1783080" y="3218688"/>
            <a:ext cx="6675120" cy="512064"/>
          </a:xfrm>
          <a:prstGeom prst="rect">
            <a:avLst/>
          </a:prstGeom>
          <a:noFill/>
          <a:ln/>
        </p:spPr>
        <p:txBody>
          <a:bodyPr wrap="square" rtlCol="0" anchor="ctr"/>
          <a:lstStyle/>
          <a:p>
            <a:pPr indent="0" marL="0">
              <a:buNone/>
            </a:pPr>
            <a:r>
              <a:rPr lang="en-US" sz="1800" b="1" dirty="0">
                <a:solidFill>
                  <a:srgbClr val="2B2B2B"/>
                </a:solidFill>
                <a:latin typeface="Arial" pitchFamily="34" charset="0"/>
                <a:ea typeface="Arial" pitchFamily="34" charset="-122"/>
                <a:cs typeface="Arial" pitchFamily="34" charset="-120"/>
              </a:rPr>
              <a:t>Outils Utilisés</a:t>
            </a:r>
            <a:endParaRPr lang="en-US" sz="1800" dirty="0"/>
          </a:p>
        </p:txBody>
      </p:sp>
      <p:sp>
        <p:nvSpPr>
          <p:cNvPr id="20" name="Shape 18"/>
          <p:cNvSpPr/>
          <p:nvPr/>
        </p:nvSpPr>
        <p:spPr>
          <a:xfrm>
            <a:off x="1783080" y="3794760"/>
            <a:ext cx="6446520" cy="0"/>
          </a:xfrm>
          <a:prstGeom prst="line">
            <a:avLst/>
          </a:prstGeom>
          <a:noFill/>
          <a:ln w="12700">
            <a:solidFill>
              <a:srgbClr val="EADBC4"/>
            </a:solidFill>
            <a:prstDash val="solid"/>
          </a:ln>
        </p:spPr>
      </p:sp>
      <p:sp>
        <p:nvSpPr>
          <p:cNvPr id="21" name="Shape 19"/>
          <p:cNvSpPr/>
          <p:nvPr/>
        </p:nvSpPr>
        <p:spPr>
          <a:xfrm>
            <a:off x="731520" y="3895344"/>
            <a:ext cx="777240" cy="512064"/>
          </a:xfrm>
          <a:prstGeom prst="roundRect">
            <a:avLst>
              <a:gd name="adj" fmla="val 14286"/>
            </a:avLst>
          </a:prstGeom>
          <a:solidFill>
            <a:srgbClr val="B14A28"/>
          </a:solidFill>
          <a:ln/>
        </p:spPr>
      </p:sp>
      <p:sp>
        <p:nvSpPr>
          <p:cNvPr id="22" name="Text 20"/>
          <p:cNvSpPr/>
          <p:nvPr/>
        </p:nvSpPr>
        <p:spPr>
          <a:xfrm>
            <a:off x="731520" y="3895344"/>
            <a:ext cx="777240" cy="512064"/>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a:t>
            </a:r>
            <a:endParaRPr lang="en-US" sz="2000" dirty="0"/>
          </a:p>
        </p:txBody>
      </p:sp>
      <p:sp>
        <p:nvSpPr>
          <p:cNvPr id="23" name="Text 21"/>
          <p:cNvSpPr/>
          <p:nvPr/>
        </p:nvSpPr>
        <p:spPr>
          <a:xfrm>
            <a:off x="1783080" y="3895344"/>
            <a:ext cx="6675120" cy="512064"/>
          </a:xfrm>
          <a:prstGeom prst="rect">
            <a:avLst/>
          </a:prstGeom>
          <a:noFill/>
          <a:ln/>
        </p:spPr>
        <p:txBody>
          <a:bodyPr wrap="square" rtlCol="0" anchor="ctr"/>
          <a:lstStyle/>
          <a:p>
            <a:pPr indent="0" marL="0">
              <a:buNone/>
            </a:pPr>
            <a:r>
              <a:rPr lang="en-US" sz="1800" b="1" dirty="0">
                <a:solidFill>
                  <a:srgbClr val="2B2B2B"/>
                </a:solidFill>
                <a:latin typeface="Arial" pitchFamily="34" charset="0"/>
                <a:ea typeface="Arial" pitchFamily="34" charset="-122"/>
                <a:cs typeface="Arial" pitchFamily="34" charset="-120"/>
              </a:rPr>
              <a:t>Conclusion</a:t>
            </a:r>
            <a:endParaRPr lang="en-US" sz="1800" dirty="0"/>
          </a:p>
        </p:txBody>
      </p:sp>
      <p:sp>
        <p:nvSpPr>
          <p:cNvPr id="24" name="Shape 22"/>
          <p:cNvSpPr/>
          <p:nvPr/>
        </p:nvSpPr>
        <p:spPr>
          <a:xfrm>
            <a:off x="1783080" y="4471416"/>
            <a:ext cx="6446520" cy="0"/>
          </a:xfrm>
          <a:prstGeom prst="line">
            <a:avLst/>
          </a:prstGeom>
          <a:noFill/>
          <a:ln w="12700">
            <a:solidFill>
              <a:srgbClr val="EADBC4"/>
            </a:solidFill>
            <a:prstDash val="solid"/>
          </a:ln>
        </p:spPr>
      </p:sp>
      <p:sp>
        <p:nvSpPr>
          <p:cNvPr id="26" name="Shape 23"/>
          <p:cNvSpPr/>
          <p:nvPr/>
        </p:nvSpPr>
        <p:spPr>
          <a:xfrm>
            <a:off x="0" y="4901184"/>
            <a:ext cx="9144000" cy="242316"/>
          </a:xfrm>
          <a:prstGeom prst="rect">
            <a:avLst/>
          </a:prstGeom>
          <a:solidFill>
            <a:srgbClr val="FBF4EA"/>
          </a:solidFill>
          <a:ln/>
        </p:spPr>
      </p:sp>
      <p:sp>
        <p:nvSpPr>
          <p:cNvPr id="27" name="Text 24"/>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28" name="Text 25"/>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B14A28"/>
        </a:solidFill>
      </p:bgPr>
    </p:bg>
    <p:spTree>
      <p:nvGrpSpPr>
        <p:cNvPr id="1" name=""/>
        <p:cNvGrpSpPr/>
        <p:nvPr/>
      </p:nvGrpSpPr>
      <p:grpSpPr>
        <a:xfrm>
          <a:off x="0" y="0"/>
          <a:ext cx="0" cy="0"/>
          <a:chOff x="0" y="0"/>
          <a:chExt cx="0" cy="0"/>
        </a:xfrm>
      </p:grpSpPr>
      <p:sp>
        <p:nvSpPr>
          <p:cNvPr id="2" name="Shape 0"/>
          <p:cNvSpPr/>
          <p:nvPr/>
        </p:nvSpPr>
        <p:spPr>
          <a:xfrm>
            <a:off x="0" y="2148840"/>
            <a:ext cx="9144000" cy="54864"/>
          </a:xfrm>
          <a:prstGeom prst="rect">
            <a:avLst/>
          </a:prstGeom>
          <a:solidFill>
            <a:srgbClr val="E8A33D"/>
          </a:solidFill>
          <a:ln/>
        </p:spPr>
      </p:sp>
      <p:sp>
        <p:nvSpPr>
          <p:cNvPr id="3" name="Text 1"/>
          <p:cNvSpPr/>
          <p:nvPr/>
        </p:nvSpPr>
        <p:spPr>
          <a:xfrm>
            <a:off x="548640" y="1371600"/>
            <a:ext cx="2011680" cy="1463040"/>
          </a:xfrm>
          <a:prstGeom prst="rect">
            <a:avLst/>
          </a:prstGeom>
          <a:noFill/>
          <a:ln/>
        </p:spPr>
        <p:txBody>
          <a:bodyPr wrap="square" rtlCol="0" anchor="ctr"/>
          <a:lstStyle/>
          <a:p>
            <a:pPr algn="ctr" indent="0" marL="0">
              <a:buNone/>
            </a:pPr>
            <a:r>
              <a:rPr lang="en-US" sz="9600" b="1" dirty="0">
                <a:solidFill>
                  <a:srgbClr val="D98A63"/>
                </a:solidFill>
                <a:latin typeface="Arial" pitchFamily="34" charset="0"/>
                <a:ea typeface="Arial" pitchFamily="34" charset="-122"/>
                <a:cs typeface="Arial" pitchFamily="34" charset="-120"/>
              </a:rPr>
              <a:t>I</a:t>
            </a:r>
            <a:endParaRPr lang="en-US" sz="9600" dirty="0"/>
          </a:p>
        </p:txBody>
      </p:sp>
      <p:sp>
        <p:nvSpPr>
          <p:cNvPr id="4" name="Text 2"/>
          <p:cNvSpPr/>
          <p:nvPr/>
        </p:nvSpPr>
        <p:spPr>
          <a:xfrm>
            <a:off x="2651760" y="2194560"/>
            <a:ext cx="6035040" cy="128016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Introduction</a:t>
            </a:r>
            <a:endParaRPr lang="en-US" sz="3200" dirty="0"/>
          </a:p>
        </p:txBody>
      </p:sp>
      <p:sp>
        <p:nvSpPr>
          <p:cNvPr id="6" name="Shape 3"/>
          <p:cNvSpPr/>
          <p:nvPr/>
        </p:nvSpPr>
        <p:spPr>
          <a:xfrm>
            <a:off x="0" y="4901184"/>
            <a:ext cx="9144000" cy="242316"/>
          </a:xfrm>
          <a:prstGeom prst="rect">
            <a:avLst/>
          </a:prstGeom>
          <a:solidFill>
            <a:srgbClr val="FBF4EA"/>
          </a:solidFill>
          <a:ln/>
        </p:spPr>
      </p:sp>
      <p:sp>
        <p:nvSpPr>
          <p:cNvPr id="7" name="Text 4"/>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8" name="Text 5"/>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B14A28"/>
          </a:solidFill>
          <a:ln/>
        </p:spPr>
      </p:sp>
      <p:sp>
        <p:nvSpPr>
          <p:cNvPr id="3" name="Shape 1"/>
          <p:cNvSpPr/>
          <p:nvPr/>
        </p:nvSpPr>
        <p:spPr>
          <a:xfrm>
            <a:off x="0" y="868680"/>
            <a:ext cx="9144000" cy="54864"/>
          </a:xfrm>
          <a:prstGeom prst="rect">
            <a:avLst/>
          </a:prstGeom>
          <a:solidFill>
            <a:srgbClr val="E8A33D"/>
          </a:solidFill>
          <a:ln/>
        </p:spPr>
      </p:sp>
      <p:sp>
        <p:nvSpPr>
          <p:cNvPr id="4" name="Text 2"/>
          <p:cNvSpPr/>
          <p:nvPr/>
        </p:nvSpPr>
        <p:spPr>
          <a:xfrm>
            <a:off x="365760" y="109728"/>
            <a:ext cx="8412480" cy="256032"/>
          </a:xfrm>
          <a:prstGeom prst="rect">
            <a:avLst/>
          </a:prstGeom>
          <a:noFill/>
          <a:ln/>
        </p:spPr>
        <p:txBody>
          <a:bodyPr wrap="square" rtlCol="0" anchor="ctr"/>
          <a:lstStyle/>
          <a:p>
            <a:pPr indent="0" marL="0">
              <a:buNone/>
            </a:pPr>
            <a:r>
              <a:rPr lang="en-US" sz="1100" b="1" spc="200" kern="0" dirty="0">
                <a:solidFill>
                  <a:srgbClr val="FFE2CC"/>
                </a:solidFill>
                <a:latin typeface="Arial" pitchFamily="34" charset="0"/>
                <a:ea typeface="Arial" pitchFamily="34" charset="-122"/>
                <a:cs typeface="Arial" pitchFamily="34" charset="-120"/>
              </a:rPr>
              <a:t>I. INTRODUCTION</a:t>
            </a:r>
            <a:endParaRPr lang="en-US" sz="1100" dirty="0"/>
          </a:p>
        </p:txBody>
      </p:sp>
      <p:sp>
        <p:nvSpPr>
          <p:cNvPr id="5" name="Text 3"/>
          <p:cNvSpPr/>
          <p:nvPr/>
        </p:nvSpPr>
        <p:spPr>
          <a:xfrm>
            <a:off x="365760" y="329184"/>
            <a:ext cx="8412480" cy="50292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Du besoin à la solution</a:t>
            </a:r>
            <a:endParaRPr lang="en-US" sz="2400" dirty="0"/>
          </a:p>
        </p:txBody>
      </p:sp>
      <p:sp>
        <p:nvSpPr>
          <p:cNvPr id="7" name="Shape 4"/>
          <p:cNvSpPr/>
          <p:nvPr/>
        </p:nvSpPr>
        <p:spPr>
          <a:xfrm>
            <a:off x="0" y="4901184"/>
            <a:ext cx="9144000" cy="242316"/>
          </a:xfrm>
          <a:prstGeom prst="rect">
            <a:avLst/>
          </a:prstGeom>
          <a:solidFill>
            <a:srgbClr val="FBF4EA"/>
          </a:solidFill>
          <a:ln/>
        </p:spPr>
      </p:sp>
      <p:sp>
        <p:nvSpPr>
          <p:cNvPr id="8" name="Text 5"/>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9" name="Text 6"/>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4</a:t>
            </a:r>
            <a:endParaRPr lang="en-US" sz="900" dirty="0"/>
          </a:p>
        </p:txBody>
      </p:sp>
      <p:sp>
        <p:nvSpPr>
          <p:cNvPr id="10" name="Text 7"/>
          <p:cNvSpPr/>
          <p:nvPr/>
        </p:nvSpPr>
        <p:spPr>
          <a:xfrm>
            <a:off x="502920" y="1097280"/>
            <a:ext cx="3657600" cy="274320"/>
          </a:xfrm>
          <a:prstGeom prst="rect">
            <a:avLst/>
          </a:prstGeom>
          <a:noFill/>
          <a:ln/>
        </p:spPr>
        <p:txBody>
          <a:bodyPr wrap="square" rtlCol="0" anchor="ctr"/>
          <a:lstStyle/>
          <a:p>
            <a:pPr indent="0" marL="0">
              <a:buNone/>
            </a:pPr>
            <a:r>
              <a:rPr lang="en-US" sz="1100" b="1" spc="100" kern="0" dirty="0">
                <a:solidFill>
                  <a:srgbClr val="B14A28"/>
                </a:solidFill>
                <a:latin typeface="Arial" pitchFamily="34" charset="0"/>
                <a:ea typeface="Arial" pitchFamily="34" charset="-122"/>
                <a:cs typeface="Arial" pitchFamily="34" charset="-120"/>
              </a:rPr>
              <a:t>LE CONSTAT</a:t>
            </a:r>
            <a:endParaRPr lang="en-US" sz="1100" dirty="0"/>
          </a:p>
        </p:txBody>
      </p:sp>
      <p:sp>
        <p:nvSpPr>
          <p:cNvPr id="11" name="Shape 8"/>
          <p:cNvSpPr/>
          <p:nvPr/>
        </p:nvSpPr>
        <p:spPr>
          <a:xfrm>
            <a:off x="502920" y="1371600"/>
            <a:ext cx="8138160" cy="1554480"/>
          </a:xfrm>
          <a:prstGeom prst="roundRect">
            <a:avLst>
              <a:gd name="adj" fmla="val 3529"/>
            </a:avLst>
          </a:prstGeom>
          <a:solidFill>
            <a:srgbClr val="FBF4EA"/>
          </a:solidFill>
          <a:ln w="15875">
            <a:solidFill>
              <a:srgbClr val="B14A28"/>
            </a:solidFill>
            <a:prstDash val="solid"/>
          </a:ln>
        </p:spPr>
      </p:sp>
      <p:sp>
        <p:nvSpPr>
          <p:cNvPr id="12" name="Text 9"/>
          <p:cNvSpPr/>
          <p:nvPr/>
        </p:nvSpPr>
        <p:spPr>
          <a:xfrm>
            <a:off x="731520" y="1417320"/>
            <a:ext cx="7680960" cy="1463040"/>
          </a:xfrm>
          <a:prstGeom prst="rect">
            <a:avLst/>
          </a:prstGeom>
          <a:noFill/>
          <a:ln/>
        </p:spPr>
        <p:txBody>
          <a:bodyPr wrap="square" rtlCol="0" anchor="ctr"/>
          <a:lstStyle/>
          <a:p>
            <a:pPr indent="0" marL="0">
              <a:lnSpc>
                <a:spcPct val="105000"/>
              </a:lnSpc>
              <a:buNone/>
            </a:pPr>
            <a:r>
              <a:rPr lang="en-US" sz="1450" dirty="0">
                <a:solidFill>
                  <a:srgbClr val="2B2B2B"/>
                </a:solidFill>
                <a:latin typeface="Arial" pitchFamily="34" charset="0"/>
                <a:ea typeface="Arial" pitchFamily="34" charset="-122"/>
                <a:cs typeface="Arial" pitchFamily="34" charset="-120"/>
              </a:rPr>
              <a:t>Ces dernières années, les habitudes ont changé : la plupart des clients commandent désormais leurs repas en ligne, depuis leur téléphone, plutôt que de se déplacer ou d'appeler. Pourtant, beaucoup de restaurants traditionnels — notamment de cuisine marocaine — n'ont toujours pas de canal de commande digital et gèrent encore leurs commandes manuellement.</a:t>
            </a:r>
            <a:endParaRPr lang="en-US" sz="1450" dirty="0"/>
          </a:p>
        </p:txBody>
      </p:sp>
      <p:sp>
        <p:nvSpPr>
          <p:cNvPr id="13" name="Text 10"/>
          <p:cNvSpPr/>
          <p:nvPr/>
        </p:nvSpPr>
        <p:spPr>
          <a:xfrm>
            <a:off x="502920" y="3035808"/>
            <a:ext cx="8138160" cy="320040"/>
          </a:xfrm>
          <a:prstGeom prst="rect">
            <a:avLst/>
          </a:prstGeom>
          <a:noFill/>
          <a:ln/>
        </p:spPr>
        <p:txBody>
          <a:bodyPr wrap="square" rtlCol="0" anchor="ctr"/>
          <a:lstStyle/>
          <a:p>
            <a:pPr algn="ctr" indent="0" marL="0">
              <a:buNone/>
            </a:pPr>
            <a:r>
              <a:rPr lang="en-US" sz="1400" b="1" i="1" dirty="0">
                <a:solidFill>
                  <a:srgbClr val="4E7D3A"/>
                </a:solidFill>
                <a:latin typeface="Arial" pitchFamily="34" charset="0"/>
                <a:ea typeface="Arial" pitchFamily="34" charset="-122"/>
                <a:cs typeface="Arial" pitchFamily="34" charset="-120"/>
              </a:rPr>
              <a:t>➜  C'est pour cela que…</a:t>
            </a:r>
            <a:endParaRPr lang="en-US" sz="1400" dirty="0"/>
          </a:p>
        </p:txBody>
      </p:sp>
      <p:sp>
        <p:nvSpPr>
          <p:cNvPr id="14" name="Shape 11"/>
          <p:cNvSpPr/>
          <p:nvPr/>
        </p:nvSpPr>
        <p:spPr>
          <a:xfrm>
            <a:off x="502920" y="3429000"/>
            <a:ext cx="8138160" cy="1280160"/>
          </a:xfrm>
          <a:prstGeom prst="roundRect">
            <a:avLst>
              <a:gd name="adj" fmla="val 4286"/>
            </a:avLst>
          </a:prstGeom>
          <a:solidFill>
            <a:srgbClr val="EAF1E4"/>
          </a:solidFill>
          <a:ln w="15875">
            <a:solidFill>
              <a:srgbClr val="4E7D3A"/>
            </a:solidFill>
            <a:prstDash val="solid"/>
          </a:ln>
        </p:spPr>
      </p:sp>
      <p:sp>
        <p:nvSpPr>
          <p:cNvPr id="15" name="Text 12"/>
          <p:cNvSpPr/>
          <p:nvPr/>
        </p:nvSpPr>
        <p:spPr>
          <a:xfrm>
            <a:off x="731520" y="3474720"/>
            <a:ext cx="7680960" cy="1188720"/>
          </a:xfrm>
          <a:prstGeom prst="rect">
            <a:avLst/>
          </a:prstGeom>
          <a:noFill/>
          <a:ln/>
        </p:spPr>
        <p:txBody>
          <a:bodyPr wrap="square" rtlCol="0" anchor="ctr"/>
          <a:lstStyle/>
          <a:p>
            <a:pPr indent="0" marL="0">
              <a:lnSpc>
                <a:spcPct val="105000"/>
              </a:lnSpc>
              <a:buNone/>
            </a:pPr>
            <a:r>
              <a:rPr lang="en-US" sz="1600" b="1" dirty="0">
                <a:solidFill>
                  <a:srgbClr val="4E7D3A"/>
                </a:solidFill>
                <a:latin typeface="Arial" pitchFamily="34" charset="0"/>
                <a:ea typeface="Arial" pitchFamily="34" charset="-122"/>
                <a:cs typeface="Arial" pitchFamily="34" charset="-120"/>
              </a:rPr>
              <a:t>Riad Saveurs</a:t>
            </a:r>
            <a:pPr indent="0" marL="0">
              <a:lnSpc>
                <a:spcPct val="105000"/>
              </a:lnSpc>
              <a:buNone/>
            </a:pPr>
            <a:r>
              <a:rPr lang="en-US" sz="1450" dirty="0">
                <a:solidFill>
                  <a:srgbClr val="2B2B2B"/>
                </a:solidFill>
                <a:latin typeface="Arial" pitchFamily="34" charset="0"/>
                <a:ea typeface="Arial" pitchFamily="34" charset="-122"/>
                <a:cs typeface="Arial" pitchFamily="34" charset="-120"/>
              </a:rPr>
              <a:t> permet aux clients de découvrir la carte et de commander leurs plats marocains préférés en quelques étapes, sans perdre de temps et sans créer de compte — et offre au gérant un back-office sécurisé et multilingue (FR / EN / AR).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B14A28"/>
          </a:solidFill>
          <a:ln/>
        </p:spPr>
      </p:sp>
      <p:sp>
        <p:nvSpPr>
          <p:cNvPr id="3" name="Shape 1"/>
          <p:cNvSpPr/>
          <p:nvPr/>
        </p:nvSpPr>
        <p:spPr>
          <a:xfrm>
            <a:off x="0" y="868680"/>
            <a:ext cx="9144000" cy="54864"/>
          </a:xfrm>
          <a:prstGeom prst="rect">
            <a:avLst/>
          </a:prstGeom>
          <a:solidFill>
            <a:srgbClr val="E8A33D"/>
          </a:solidFill>
          <a:ln/>
        </p:spPr>
      </p:sp>
      <p:sp>
        <p:nvSpPr>
          <p:cNvPr id="4" name="Text 2"/>
          <p:cNvSpPr/>
          <p:nvPr/>
        </p:nvSpPr>
        <p:spPr>
          <a:xfrm>
            <a:off x="365760" y="109728"/>
            <a:ext cx="8412480" cy="256032"/>
          </a:xfrm>
          <a:prstGeom prst="rect">
            <a:avLst/>
          </a:prstGeom>
          <a:noFill/>
          <a:ln/>
        </p:spPr>
        <p:txBody>
          <a:bodyPr wrap="square" rtlCol="0" anchor="ctr"/>
          <a:lstStyle/>
          <a:p>
            <a:pPr indent="0" marL="0">
              <a:buNone/>
            </a:pPr>
            <a:r>
              <a:rPr lang="en-US" sz="1100" b="1" spc="200" kern="0" dirty="0">
                <a:solidFill>
                  <a:srgbClr val="FFE2CC"/>
                </a:solidFill>
                <a:latin typeface="Arial" pitchFamily="34" charset="0"/>
                <a:ea typeface="Arial" pitchFamily="34" charset="-122"/>
                <a:cs typeface="Arial" pitchFamily="34" charset="-120"/>
              </a:rPr>
              <a:t>I. INTRODUCTION</a:t>
            </a:r>
            <a:endParaRPr lang="en-US" sz="1100" dirty="0"/>
          </a:p>
        </p:txBody>
      </p:sp>
      <p:sp>
        <p:nvSpPr>
          <p:cNvPr id="5" name="Text 3"/>
          <p:cNvSpPr/>
          <p:nvPr/>
        </p:nvSpPr>
        <p:spPr>
          <a:xfrm>
            <a:off x="365760" y="329184"/>
            <a:ext cx="8412480" cy="50292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Objectifs du produit</a:t>
            </a:r>
            <a:endParaRPr lang="en-US" sz="2400" dirty="0"/>
          </a:p>
        </p:txBody>
      </p:sp>
      <p:sp>
        <p:nvSpPr>
          <p:cNvPr id="7" name="Shape 4"/>
          <p:cNvSpPr/>
          <p:nvPr/>
        </p:nvSpPr>
        <p:spPr>
          <a:xfrm>
            <a:off x="0" y="4901184"/>
            <a:ext cx="9144000" cy="242316"/>
          </a:xfrm>
          <a:prstGeom prst="rect">
            <a:avLst/>
          </a:prstGeom>
          <a:solidFill>
            <a:srgbClr val="FBF4EA"/>
          </a:solidFill>
          <a:ln/>
        </p:spPr>
      </p:sp>
      <p:sp>
        <p:nvSpPr>
          <p:cNvPr id="8" name="Text 5"/>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9" name="Text 6"/>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5</a:t>
            </a:r>
            <a:endParaRPr lang="en-US" sz="900" dirty="0"/>
          </a:p>
        </p:txBody>
      </p:sp>
      <p:sp>
        <p:nvSpPr>
          <p:cNvPr id="10" name="Text 7"/>
          <p:cNvSpPr/>
          <p:nvPr/>
        </p:nvSpPr>
        <p:spPr>
          <a:xfrm>
            <a:off x="502920" y="1325880"/>
            <a:ext cx="8138160" cy="3383280"/>
          </a:xfrm>
          <a:prstGeom prst="rect">
            <a:avLst/>
          </a:prstGeom>
          <a:noFill/>
          <a:ln/>
        </p:spPr>
        <p:txBody>
          <a:bodyPr wrap="square" rtlCol="0" anchor="t"/>
          <a:lstStyle/>
          <a:p>
            <a:pPr marL="228600" indent="-228600">
              <a:lnSpc>
                <a:spcPct val="105000"/>
              </a:lnSpc>
              <a:spcAft>
                <a:spcPts val="1000"/>
              </a:spcAft>
              <a:buSzPct val="100000"/>
              <a:buChar char="•"/>
            </a:pPr>
            <a:r>
              <a:rPr lang="en-US" sz="1600" b="1" dirty="0">
                <a:solidFill>
                  <a:srgbClr val="2B2B2B"/>
                </a:solidFill>
                <a:latin typeface="Arial" pitchFamily="34" charset="0"/>
                <a:ea typeface="Arial" pitchFamily="34" charset="-122"/>
                <a:cs typeface="Arial" pitchFamily="34" charset="-120"/>
              </a:rPr>
              <a:t>Expérience client fluide : menu → panier → commande → suivi, sans inscription.</a:t>
            </a:r>
            <a:endParaRPr lang="en-US" sz="1600" dirty="0"/>
          </a:p>
          <a:p>
            <a:pPr marL="228600" indent="-228600">
              <a:lnSpc>
                <a:spcPct val="105000"/>
              </a:lnSpc>
              <a:spcAft>
                <a:spcPts val="1000"/>
              </a:spcAft>
              <a:buSzPct val="100000"/>
              <a:buChar char="•"/>
            </a:pPr>
            <a:r>
              <a:rPr lang="en-US" sz="1600" b="1" dirty="0">
                <a:solidFill>
                  <a:srgbClr val="2B2B2B"/>
                </a:solidFill>
                <a:latin typeface="Arial" pitchFamily="34" charset="0"/>
                <a:ea typeface="Arial" pitchFamily="34" charset="-122"/>
                <a:cs typeface="Arial" pitchFamily="34" charset="-120"/>
              </a:rPr>
              <a:t>Outil de gestion autonome et sécurisé pour le gérant, en temps réel.</a:t>
            </a:r>
            <a:endParaRPr lang="en-US" sz="1600" dirty="0"/>
          </a:p>
          <a:p>
            <a:pPr marL="228600" indent="-228600">
              <a:lnSpc>
                <a:spcPct val="105000"/>
              </a:lnSpc>
              <a:spcAft>
                <a:spcPts val="1000"/>
              </a:spcAft>
              <a:buSzPct val="100000"/>
              <a:buChar char="•"/>
            </a:pPr>
            <a:r>
              <a:rPr lang="en-US" sz="1600" b="1" dirty="0">
                <a:solidFill>
                  <a:srgbClr val="2B2B2B"/>
                </a:solidFill>
                <a:latin typeface="Arial" pitchFamily="34" charset="0"/>
                <a:ea typeface="Arial" pitchFamily="34" charset="-122"/>
                <a:cs typeface="Arial" pitchFamily="34" charset="-120"/>
              </a:rPr>
              <a:t>Accessibilité internationale : interface en français, anglais et arabe.</a:t>
            </a:r>
            <a:endParaRPr lang="en-US" sz="1600" dirty="0"/>
          </a:p>
          <a:p>
            <a:pPr marL="228600" indent="-228600">
              <a:lnSpc>
                <a:spcPct val="105000"/>
              </a:lnSpc>
              <a:spcAft>
                <a:spcPts val="1000"/>
              </a:spcAft>
              <a:buSzPct val="100000"/>
              <a:buChar char="•"/>
            </a:pPr>
            <a:r>
              <a:rPr lang="en-US" sz="1600" b="1" dirty="0">
                <a:solidFill>
                  <a:srgbClr val="2B2B2B"/>
                </a:solidFill>
                <a:latin typeface="Arial" pitchFamily="34" charset="0"/>
                <a:ea typeface="Arial" pitchFamily="34" charset="-122"/>
                <a:cs typeface="Arial" pitchFamily="34" charset="-120"/>
              </a:rPr>
              <a:t>Valorisation du patrimoine culinaire marocain (terracotta, safran, ocre).</a:t>
            </a:r>
            <a:endParaRPr lang="en-US" sz="1600" dirty="0"/>
          </a:p>
        </p:txBody>
      </p:sp>
      <p:sp>
        <p:nvSpPr>
          <p:cNvPr id="11" name="Shape 8"/>
          <p:cNvSpPr/>
          <p:nvPr/>
        </p:nvSpPr>
        <p:spPr>
          <a:xfrm>
            <a:off x="502920" y="4023360"/>
            <a:ext cx="8138160" cy="548640"/>
          </a:xfrm>
          <a:prstGeom prst="roundRect">
            <a:avLst>
              <a:gd name="adj" fmla="val 10000"/>
            </a:avLst>
          </a:prstGeom>
          <a:solidFill>
            <a:srgbClr val="FBF4EA"/>
          </a:solidFill>
          <a:ln/>
        </p:spPr>
      </p:sp>
      <p:sp>
        <p:nvSpPr>
          <p:cNvPr id="12" name="Text 9"/>
          <p:cNvSpPr/>
          <p:nvPr/>
        </p:nvSpPr>
        <p:spPr>
          <a:xfrm>
            <a:off x="685800" y="4023360"/>
            <a:ext cx="7772400" cy="548640"/>
          </a:xfrm>
          <a:prstGeom prst="rect">
            <a:avLst/>
          </a:prstGeom>
          <a:noFill/>
          <a:ln/>
        </p:spPr>
        <p:txBody>
          <a:bodyPr wrap="square" rtlCol="0" anchor="ctr"/>
          <a:lstStyle/>
          <a:p>
            <a:pPr indent="0" marL="0">
              <a:buNone/>
            </a:pPr>
            <a:r>
              <a:rPr lang="en-US" sz="1400" b="1" dirty="0">
                <a:solidFill>
                  <a:srgbClr val="B14A28"/>
                </a:solidFill>
                <a:latin typeface="Arial" pitchFamily="34" charset="0"/>
                <a:ea typeface="Arial" pitchFamily="34" charset="-122"/>
                <a:cs typeface="Arial" pitchFamily="34" charset="-120"/>
              </a:rPr>
              <a:t>Public visé : </a:t>
            </a:r>
            <a:pPr indent="0" marL="0">
              <a:buNone/>
            </a:pPr>
            <a:r>
              <a:rPr lang="en-US" sz="1400" dirty="0">
                <a:solidFill>
                  <a:srgbClr val="2B2B2B"/>
                </a:solidFill>
                <a:latin typeface="Arial" pitchFamily="34" charset="0"/>
                <a:ea typeface="Arial" pitchFamily="34" charset="-122"/>
                <a:cs typeface="Arial" pitchFamily="34" charset="-120"/>
              </a:rPr>
              <a:t>clients amateurs de cuisine marocaine  ·  gérant et personnel du restaurant.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B14A28"/>
        </a:solidFill>
      </p:bgPr>
    </p:bg>
    <p:spTree>
      <p:nvGrpSpPr>
        <p:cNvPr id="1" name=""/>
        <p:cNvGrpSpPr/>
        <p:nvPr/>
      </p:nvGrpSpPr>
      <p:grpSpPr>
        <a:xfrm>
          <a:off x="0" y="0"/>
          <a:ext cx="0" cy="0"/>
          <a:chOff x="0" y="0"/>
          <a:chExt cx="0" cy="0"/>
        </a:xfrm>
      </p:grpSpPr>
      <p:sp>
        <p:nvSpPr>
          <p:cNvPr id="2" name="Shape 0"/>
          <p:cNvSpPr/>
          <p:nvPr/>
        </p:nvSpPr>
        <p:spPr>
          <a:xfrm>
            <a:off x="0" y="2148840"/>
            <a:ext cx="9144000" cy="54864"/>
          </a:xfrm>
          <a:prstGeom prst="rect">
            <a:avLst/>
          </a:prstGeom>
          <a:solidFill>
            <a:srgbClr val="E8A33D"/>
          </a:solidFill>
          <a:ln/>
        </p:spPr>
      </p:sp>
      <p:sp>
        <p:nvSpPr>
          <p:cNvPr id="3" name="Text 1"/>
          <p:cNvSpPr/>
          <p:nvPr/>
        </p:nvSpPr>
        <p:spPr>
          <a:xfrm>
            <a:off x="548640" y="1371600"/>
            <a:ext cx="2011680" cy="1463040"/>
          </a:xfrm>
          <a:prstGeom prst="rect">
            <a:avLst/>
          </a:prstGeom>
          <a:noFill/>
          <a:ln/>
        </p:spPr>
        <p:txBody>
          <a:bodyPr wrap="square" rtlCol="0" anchor="ctr"/>
          <a:lstStyle/>
          <a:p>
            <a:pPr algn="ctr" indent="0" marL="0">
              <a:buNone/>
            </a:pPr>
            <a:r>
              <a:rPr lang="en-US" sz="9600" b="1" dirty="0">
                <a:solidFill>
                  <a:srgbClr val="D98A63"/>
                </a:solidFill>
                <a:latin typeface="Arial" pitchFamily="34" charset="0"/>
                <a:ea typeface="Arial" pitchFamily="34" charset="-122"/>
                <a:cs typeface="Arial" pitchFamily="34" charset="-120"/>
              </a:rPr>
              <a:t>II</a:t>
            </a:r>
            <a:endParaRPr lang="en-US" sz="9600" dirty="0"/>
          </a:p>
        </p:txBody>
      </p:sp>
      <p:sp>
        <p:nvSpPr>
          <p:cNvPr id="4" name="Text 2"/>
          <p:cNvSpPr/>
          <p:nvPr/>
        </p:nvSpPr>
        <p:spPr>
          <a:xfrm>
            <a:off x="2651760" y="2194560"/>
            <a:ext cx="6035040" cy="128016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Problématique et</a:t>
            </a:r>
            <a:endParaRPr lang="en-US" sz="3200" dirty="0"/>
          </a:p>
          <a:p>
            <a:pPr indent="0" marL="0">
              <a:buNone/>
            </a:pPr>
            <a:r>
              <a:rPr lang="en-US" sz="3200" b="1" dirty="0">
                <a:solidFill>
                  <a:srgbClr val="FFFFFF"/>
                </a:solidFill>
                <a:latin typeface="Arial" pitchFamily="34" charset="0"/>
                <a:ea typeface="Arial" pitchFamily="34" charset="-122"/>
                <a:cs typeface="Arial" pitchFamily="34" charset="-120"/>
              </a:rPr>
              <a:t>Solution Proposée</a:t>
            </a:r>
            <a:endParaRPr lang="en-US" sz="3200" dirty="0"/>
          </a:p>
        </p:txBody>
      </p:sp>
      <p:sp>
        <p:nvSpPr>
          <p:cNvPr id="6" name="Shape 3"/>
          <p:cNvSpPr/>
          <p:nvPr/>
        </p:nvSpPr>
        <p:spPr>
          <a:xfrm>
            <a:off x="0" y="4901184"/>
            <a:ext cx="9144000" cy="242316"/>
          </a:xfrm>
          <a:prstGeom prst="rect">
            <a:avLst/>
          </a:prstGeom>
          <a:solidFill>
            <a:srgbClr val="FBF4EA"/>
          </a:solidFill>
          <a:ln/>
        </p:spPr>
      </p:sp>
      <p:sp>
        <p:nvSpPr>
          <p:cNvPr id="7" name="Text 4"/>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8" name="Text 5"/>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B14A28"/>
          </a:solidFill>
          <a:ln/>
        </p:spPr>
      </p:sp>
      <p:sp>
        <p:nvSpPr>
          <p:cNvPr id="3" name="Shape 1"/>
          <p:cNvSpPr/>
          <p:nvPr/>
        </p:nvSpPr>
        <p:spPr>
          <a:xfrm>
            <a:off x="0" y="868680"/>
            <a:ext cx="9144000" cy="54864"/>
          </a:xfrm>
          <a:prstGeom prst="rect">
            <a:avLst/>
          </a:prstGeom>
          <a:solidFill>
            <a:srgbClr val="E8A33D"/>
          </a:solidFill>
          <a:ln/>
        </p:spPr>
      </p:sp>
      <p:sp>
        <p:nvSpPr>
          <p:cNvPr id="4" name="Text 2"/>
          <p:cNvSpPr/>
          <p:nvPr/>
        </p:nvSpPr>
        <p:spPr>
          <a:xfrm>
            <a:off x="365760" y="109728"/>
            <a:ext cx="8412480" cy="256032"/>
          </a:xfrm>
          <a:prstGeom prst="rect">
            <a:avLst/>
          </a:prstGeom>
          <a:noFill/>
          <a:ln/>
        </p:spPr>
        <p:txBody>
          <a:bodyPr wrap="square" rtlCol="0" anchor="ctr"/>
          <a:lstStyle/>
          <a:p>
            <a:pPr indent="0" marL="0">
              <a:buNone/>
            </a:pPr>
            <a:r>
              <a:rPr lang="en-US" sz="1100" b="1" spc="200" kern="0" dirty="0">
                <a:solidFill>
                  <a:srgbClr val="FFE2CC"/>
                </a:solidFill>
                <a:latin typeface="Arial" pitchFamily="34" charset="0"/>
                <a:ea typeface="Arial" pitchFamily="34" charset="-122"/>
                <a:cs typeface="Arial" pitchFamily="34" charset="-120"/>
              </a:rPr>
              <a:t>II. PROBLÉMATIQUE ET SOLUTION PROPOSÉE</a:t>
            </a:r>
            <a:endParaRPr lang="en-US" sz="1100" dirty="0"/>
          </a:p>
        </p:txBody>
      </p:sp>
      <p:sp>
        <p:nvSpPr>
          <p:cNvPr id="5" name="Text 3"/>
          <p:cNvSpPr/>
          <p:nvPr/>
        </p:nvSpPr>
        <p:spPr>
          <a:xfrm>
            <a:off x="365760" y="329184"/>
            <a:ext cx="8412480" cy="50292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Vue d'ensemble : 4 problématiques · 4 solutions</a:t>
            </a:r>
            <a:endParaRPr lang="en-US" sz="2400" dirty="0"/>
          </a:p>
        </p:txBody>
      </p:sp>
      <p:sp>
        <p:nvSpPr>
          <p:cNvPr id="7" name="Shape 4"/>
          <p:cNvSpPr/>
          <p:nvPr/>
        </p:nvSpPr>
        <p:spPr>
          <a:xfrm>
            <a:off x="0" y="4901184"/>
            <a:ext cx="9144000" cy="242316"/>
          </a:xfrm>
          <a:prstGeom prst="rect">
            <a:avLst/>
          </a:prstGeom>
          <a:solidFill>
            <a:srgbClr val="FBF4EA"/>
          </a:solidFill>
          <a:ln/>
        </p:spPr>
      </p:sp>
      <p:sp>
        <p:nvSpPr>
          <p:cNvPr id="8" name="Text 5"/>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9" name="Text 6"/>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640080"/>
                <a:gridCol w="3383280"/>
                <a:gridCol w="4114800"/>
              </a:tblGrid>
              <a:tr h="566928">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8F3A20"/>
                    </a:solidFill>
                  </a:tcPr>
                </a:tc>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Problématique</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B14A28"/>
                    </a:solidFill>
                  </a:tcPr>
                </a:tc>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Solution proposée</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4E7D3A"/>
                    </a:solidFill>
                  </a:tcPr>
                </a:tc>
              </a:tr>
              <a:tr h="566928">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Commander sans friction</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Parcours 4 étapes + panier en session (AJAX)</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Accès gérant non protégé</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Authentification + rôles admin / operator</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Intégrité des commandes</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Prix figés + transaction + historique</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Public international</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Internationalisation FR / EN / AR (RTL)</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B14A28"/>
          </a:solidFill>
          <a:ln/>
        </p:spPr>
      </p:sp>
      <p:sp>
        <p:nvSpPr>
          <p:cNvPr id="3" name="Shape 1"/>
          <p:cNvSpPr/>
          <p:nvPr/>
        </p:nvSpPr>
        <p:spPr>
          <a:xfrm>
            <a:off x="0" y="868680"/>
            <a:ext cx="9144000" cy="54864"/>
          </a:xfrm>
          <a:prstGeom prst="rect">
            <a:avLst/>
          </a:prstGeom>
          <a:solidFill>
            <a:srgbClr val="E8A33D"/>
          </a:solidFill>
          <a:ln/>
        </p:spPr>
      </p:sp>
      <p:sp>
        <p:nvSpPr>
          <p:cNvPr id="4" name="Text 2"/>
          <p:cNvSpPr/>
          <p:nvPr/>
        </p:nvSpPr>
        <p:spPr>
          <a:xfrm>
            <a:off x="365760" y="109728"/>
            <a:ext cx="8412480" cy="256032"/>
          </a:xfrm>
          <a:prstGeom prst="rect">
            <a:avLst/>
          </a:prstGeom>
          <a:noFill/>
          <a:ln/>
        </p:spPr>
        <p:txBody>
          <a:bodyPr wrap="square" rtlCol="0" anchor="ctr"/>
          <a:lstStyle/>
          <a:p>
            <a:pPr indent="0" marL="0">
              <a:buNone/>
            </a:pPr>
            <a:r>
              <a:rPr lang="en-US" sz="1100" b="1" spc="200" kern="0" dirty="0">
                <a:solidFill>
                  <a:srgbClr val="FFE2CC"/>
                </a:solidFill>
                <a:latin typeface="Arial" pitchFamily="34" charset="0"/>
                <a:ea typeface="Arial" pitchFamily="34" charset="-122"/>
                <a:cs typeface="Arial" pitchFamily="34" charset="-120"/>
              </a:rPr>
              <a:t>II. CAS 1 — PROBLÉMATIQUE</a:t>
            </a:r>
            <a:endParaRPr lang="en-US" sz="1100" dirty="0"/>
          </a:p>
        </p:txBody>
      </p:sp>
      <p:sp>
        <p:nvSpPr>
          <p:cNvPr id="5" name="Text 3"/>
          <p:cNvSpPr/>
          <p:nvPr/>
        </p:nvSpPr>
        <p:spPr>
          <a:xfrm>
            <a:off x="365760" y="329184"/>
            <a:ext cx="8412480" cy="50292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1️⃣  Commander sans friction</a:t>
            </a:r>
            <a:endParaRPr lang="en-US" sz="2400" dirty="0"/>
          </a:p>
        </p:txBody>
      </p:sp>
      <p:sp>
        <p:nvSpPr>
          <p:cNvPr id="7" name="Shape 4"/>
          <p:cNvSpPr/>
          <p:nvPr/>
        </p:nvSpPr>
        <p:spPr>
          <a:xfrm>
            <a:off x="0" y="4901184"/>
            <a:ext cx="9144000" cy="242316"/>
          </a:xfrm>
          <a:prstGeom prst="rect">
            <a:avLst/>
          </a:prstGeom>
          <a:solidFill>
            <a:srgbClr val="FBF4EA"/>
          </a:solidFill>
          <a:ln/>
        </p:spPr>
      </p:sp>
      <p:sp>
        <p:nvSpPr>
          <p:cNvPr id="8" name="Text 5"/>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9" name="Text 6"/>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8</a:t>
            </a:r>
            <a:endParaRPr lang="en-US" sz="900" dirty="0"/>
          </a:p>
        </p:txBody>
      </p:sp>
      <p:sp>
        <p:nvSpPr>
          <p:cNvPr id="10" name="Shape 7"/>
          <p:cNvSpPr/>
          <p:nvPr/>
        </p:nvSpPr>
        <p:spPr>
          <a:xfrm>
            <a:off x="502920" y="1325880"/>
            <a:ext cx="1371600" cy="1371600"/>
          </a:xfrm>
          <a:prstGeom prst="roundRect">
            <a:avLst>
              <a:gd name="adj" fmla="val 6667"/>
            </a:avLst>
          </a:prstGeom>
          <a:solidFill>
            <a:srgbClr val="FBF4EA"/>
          </a:solidFill>
          <a:ln w="12700">
            <a:solidFill>
              <a:srgbClr val="B14A28"/>
            </a:solidFill>
            <a:prstDash val="solid"/>
          </a:ln>
        </p:spPr>
      </p:sp>
      <p:sp>
        <p:nvSpPr>
          <p:cNvPr id="11" name="Text 8"/>
          <p:cNvSpPr/>
          <p:nvPr/>
        </p:nvSpPr>
        <p:spPr>
          <a:xfrm>
            <a:off x="502920" y="1371600"/>
            <a:ext cx="1371600" cy="1280160"/>
          </a:xfrm>
          <a:prstGeom prst="rect">
            <a:avLst/>
          </a:prstGeom>
          <a:noFill/>
          <a:ln/>
        </p:spPr>
        <p:txBody>
          <a:bodyPr wrap="square" rtlCol="0" anchor="ctr"/>
          <a:lstStyle/>
          <a:p>
            <a:pPr algn="ctr" indent="0" marL="0">
              <a:buNone/>
            </a:pPr>
            <a:r>
              <a:rPr lang="en-US" sz="5400" dirty="0">
                <a:solidFill>
                  <a:srgbClr val="000000"/>
                </a:solidFill>
              </a:rPr>
              <a:t>❓</a:t>
            </a:r>
            <a:endParaRPr lang="en-US" sz="5400" dirty="0"/>
          </a:p>
        </p:txBody>
      </p:sp>
      <p:sp>
        <p:nvSpPr>
          <p:cNvPr id="12" name="Text 9"/>
          <p:cNvSpPr/>
          <p:nvPr/>
        </p:nvSpPr>
        <p:spPr>
          <a:xfrm>
            <a:off x="502920" y="2542032"/>
            <a:ext cx="1371600" cy="228600"/>
          </a:xfrm>
          <a:prstGeom prst="rect">
            <a:avLst/>
          </a:prstGeom>
          <a:noFill/>
          <a:ln/>
        </p:spPr>
        <p:txBody>
          <a:bodyPr wrap="square" rtlCol="0" anchor="ctr"/>
          <a:lstStyle/>
          <a:p>
            <a:pPr algn="ctr" indent="0" marL="0">
              <a:buNone/>
            </a:pPr>
            <a:r>
              <a:rPr lang="en-US" sz="900" b="1" spc="100" kern="0" dirty="0">
                <a:solidFill>
                  <a:srgbClr val="B14A28"/>
                </a:solidFill>
                <a:latin typeface="Arial" pitchFamily="34" charset="0"/>
                <a:ea typeface="Arial" pitchFamily="34" charset="-122"/>
                <a:cs typeface="Arial" pitchFamily="34" charset="-120"/>
              </a:rPr>
              <a:t>PROBLÉMATIQUE</a:t>
            </a:r>
            <a:endParaRPr lang="en-US" sz="900" dirty="0"/>
          </a:p>
        </p:txBody>
      </p:sp>
      <p:sp>
        <p:nvSpPr>
          <p:cNvPr id="13" name="Text 10"/>
          <p:cNvSpPr/>
          <p:nvPr/>
        </p:nvSpPr>
        <p:spPr>
          <a:xfrm>
            <a:off x="2194560" y="1554480"/>
            <a:ext cx="6492240" cy="2926080"/>
          </a:xfrm>
          <a:prstGeom prst="rect">
            <a:avLst/>
          </a:prstGeom>
          <a:noFill/>
          <a:ln/>
        </p:spPr>
        <p:txBody>
          <a:bodyPr wrap="square" rtlCol="0" anchor="t"/>
          <a:lstStyle/>
          <a:p>
            <a:pPr marL="228600" indent="-228600">
              <a:lnSpc>
                <a:spcPct val="105000"/>
              </a:lnSpc>
              <a:spcAft>
                <a:spcPts val="1400"/>
              </a:spcAft>
              <a:buSzPct val="100000"/>
              <a:buChar char="•"/>
            </a:pPr>
            <a:r>
              <a:rPr lang="en-US" sz="1700" dirty="0">
                <a:solidFill>
                  <a:srgbClr val="2B2B2B"/>
                </a:solidFill>
                <a:latin typeface="Arial" pitchFamily="34" charset="0"/>
                <a:ea typeface="Arial" pitchFamily="34" charset="-122"/>
                <a:cs typeface="Arial" pitchFamily="34" charset="-120"/>
              </a:rPr>
              <a:t>Obliger un client à créer un compte avant de commander provoque de l'abandon.</a:t>
            </a:r>
            <a:endParaRPr lang="en-US" sz="1700" dirty="0"/>
          </a:p>
          <a:p>
            <a:pPr marL="228600" indent="-228600">
              <a:lnSpc>
                <a:spcPct val="105000"/>
              </a:lnSpc>
              <a:spcAft>
                <a:spcPts val="1400"/>
              </a:spcAft>
              <a:buSzPct val="100000"/>
              <a:buChar char="•"/>
            </a:pPr>
            <a:r>
              <a:rPr lang="en-US" sz="1700" dirty="0">
                <a:solidFill>
                  <a:srgbClr val="2B2B2B"/>
                </a:solidFill>
                <a:latin typeface="Arial" pitchFamily="34" charset="0"/>
                <a:ea typeface="Arial" pitchFamily="34" charset="-122"/>
                <a:cs typeface="Arial" pitchFamily="34" charset="-120"/>
              </a:rPr>
              <a:t>Le parcours d'achat doit être simple, rapide et sans barrière à l'entrée.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4E7D3A"/>
          </a:solidFill>
          <a:ln/>
        </p:spPr>
      </p:sp>
      <p:sp>
        <p:nvSpPr>
          <p:cNvPr id="3" name="Shape 1"/>
          <p:cNvSpPr/>
          <p:nvPr/>
        </p:nvSpPr>
        <p:spPr>
          <a:xfrm>
            <a:off x="0" y="868680"/>
            <a:ext cx="9144000" cy="54864"/>
          </a:xfrm>
          <a:prstGeom prst="rect">
            <a:avLst/>
          </a:prstGeom>
          <a:solidFill>
            <a:srgbClr val="E8A33D"/>
          </a:solidFill>
          <a:ln/>
        </p:spPr>
      </p:sp>
      <p:sp>
        <p:nvSpPr>
          <p:cNvPr id="4" name="Text 2"/>
          <p:cNvSpPr/>
          <p:nvPr/>
        </p:nvSpPr>
        <p:spPr>
          <a:xfrm>
            <a:off x="365760" y="109728"/>
            <a:ext cx="8412480" cy="256032"/>
          </a:xfrm>
          <a:prstGeom prst="rect">
            <a:avLst/>
          </a:prstGeom>
          <a:noFill/>
          <a:ln/>
        </p:spPr>
        <p:txBody>
          <a:bodyPr wrap="square" rtlCol="0" anchor="ctr"/>
          <a:lstStyle/>
          <a:p>
            <a:pPr indent="0" marL="0">
              <a:buNone/>
            </a:pPr>
            <a:r>
              <a:rPr lang="en-US" sz="1100" b="1" spc="200" kern="0" dirty="0">
                <a:solidFill>
                  <a:srgbClr val="FFE2CC"/>
                </a:solidFill>
                <a:latin typeface="Arial" pitchFamily="34" charset="0"/>
                <a:ea typeface="Arial" pitchFamily="34" charset="-122"/>
                <a:cs typeface="Arial" pitchFamily="34" charset="-120"/>
              </a:rPr>
              <a:t>II. CAS 1 — SOLUTION</a:t>
            </a:r>
            <a:endParaRPr lang="en-US" sz="1100" dirty="0"/>
          </a:p>
        </p:txBody>
      </p:sp>
      <p:sp>
        <p:nvSpPr>
          <p:cNvPr id="5" name="Text 3"/>
          <p:cNvSpPr/>
          <p:nvPr/>
        </p:nvSpPr>
        <p:spPr>
          <a:xfrm>
            <a:off x="365760" y="329184"/>
            <a:ext cx="8412480" cy="50292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1️⃣  Parcours simplifié, sans compte</a:t>
            </a:r>
            <a:endParaRPr lang="en-US" sz="2400" dirty="0"/>
          </a:p>
        </p:txBody>
      </p:sp>
      <p:sp>
        <p:nvSpPr>
          <p:cNvPr id="7" name="Shape 4"/>
          <p:cNvSpPr/>
          <p:nvPr/>
        </p:nvSpPr>
        <p:spPr>
          <a:xfrm>
            <a:off x="0" y="4901184"/>
            <a:ext cx="9144000" cy="242316"/>
          </a:xfrm>
          <a:prstGeom prst="rect">
            <a:avLst/>
          </a:prstGeom>
          <a:solidFill>
            <a:srgbClr val="FBF4EA"/>
          </a:solidFill>
          <a:ln/>
        </p:spPr>
      </p:sp>
      <p:sp>
        <p:nvSpPr>
          <p:cNvPr id="8" name="Text 5"/>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9" name="Text 6"/>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9</a:t>
            </a:r>
            <a:endParaRPr lang="en-US" sz="900" dirty="0"/>
          </a:p>
        </p:txBody>
      </p:sp>
      <p:sp>
        <p:nvSpPr>
          <p:cNvPr id="10" name="Shape 7"/>
          <p:cNvSpPr/>
          <p:nvPr/>
        </p:nvSpPr>
        <p:spPr>
          <a:xfrm>
            <a:off x="502920" y="1325880"/>
            <a:ext cx="1371600" cy="1371600"/>
          </a:xfrm>
          <a:prstGeom prst="roundRect">
            <a:avLst>
              <a:gd name="adj" fmla="val 6667"/>
            </a:avLst>
          </a:prstGeom>
          <a:solidFill>
            <a:srgbClr val="EAF1E4"/>
          </a:solidFill>
          <a:ln w="12700">
            <a:solidFill>
              <a:srgbClr val="4E7D3A"/>
            </a:solidFill>
            <a:prstDash val="solid"/>
          </a:ln>
        </p:spPr>
      </p:sp>
      <p:sp>
        <p:nvSpPr>
          <p:cNvPr id="11" name="Text 8"/>
          <p:cNvSpPr/>
          <p:nvPr/>
        </p:nvSpPr>
        <p:spPr>
          <a:xfrm>
            <a:off x="502920" y="1371600"/>
            <a:ext cx="1371600" cy="1280160"/>
          </a:xfrm>
          <a:prstGeom prst="rect">
            <a:avLst/>
          </a:prstGeom>
          <a:noFill/>
          <a:ln/>
        </p:spPr>
        <p:txBody>
          <a:bodyPr wrap="square" rtlCol="0" anchor="ctr"/>
          <a:lstStyle/>
          <a:p>
            <a:pPr algn="ctr" indent="0" marL="0">
              <a:buNone/>
            </a:pPr>
            <a:r>
              <a:rPr lang="en-US" sz="5400" dirty="0">
                <a:solidFill>
                  <a:srgbClr val="000000"/>
                </a:solidFill>
              </a:rPr>
              <a:t>✅</a:t>
            </a:r>
            <a:endParaRPr lang="en-US" sz="5400" dirty="0"/>
          </a:p>
        </p:txBody>
      </p:sp>
      <p:sp>
        <p:nvSpPr>
          <p:cNvPr id="12" name="Text 9"/>
          <p:cNvSpPr/>
          <p:nvPr/>
        </p:nvSpPr>
        <p:spPr>
          <a:xfrm>
            <a:off x="502920" y="2542032"/>
            <a:ext cx="1371600" cy="228600"/>
          </a:xfrm>
          <a:prstGeom prst="rect">
            <a:avLst/>
          </a:prstGeom>
          <a:noFill/>
          <a:ln/>
        </p:spPr>
        <p:txBody>
          <a:bodyPr wrap="square" rtlCol="0" anchor="ctr"/>
          <a:lstStyle/>
          <a:p>
            <a:pPr algn="ctr" indent="0" marL="0">
              <a:buNone/>
            </a:pPr>
            <a:r>
              <a:rPr lang="en-US" sz="900" b="1" spc="100" kern="0" dirty="0">
                <a:solidFill>
                  <a:srgbClr val="4E7D3A"/>
                </a:solidFill>
                <a:latin typeface="Arial" pitchFamily="34" charset="0"/>
                <a:ea typeface="Arial" pitchFamily="34" charset="-122"/>
                <a:cs typeface="Arial" pitchFamily="34" charset="-120"/>
              </a:rPr>
              <a:t>SOLUTION</a:t>
            </a:r>
            <a:endParaRPr lang="en-US" sz="900" dirty="0"/>
          </a:p>
        </p:txBody>
      </p:sp>
      <p:sp>
        <p:nvSpPr>
          <p:cNvPr id="13" name="Text 10"/>
          <p:cNvSpPr/>
          <p:nvPr/>
        </p:nvSpPr>
        <p:spPr>
          <a:xfrm>
            <a:off x="2194560" y="1417320"/>
            <a:ext cx="6492240" cy="3200400"/>
          </a:xfrm>
          <a:prstGeom prst="rect">
            <a:avLst/>
          </a:prstGeom>
          <a:noFill/>
          <a:ln/>
        </p:spPr>
        <p:txBody>
          <a:bodyPr wrap="square" rtlCol="0" anchor="t"/>
          <a:lstStyle/>
          <a:p>
            <a:pPr marL="228600" indent="-228600">
              <a:lnSpc>
                <a:spcPct val="105000"/>
              </a:lnSpc>
              <a:spcAft>
                <a:spcPts val="1100"/>
              </a:spcAft>
              <a:buSzPct val="100000"/>
              <a:buChar char="•"/>
            </a:pPr>
            <a:r>
              <a:rPr lang="en-US" sz="1500" dirty="0">
                <a:solidFill>
                  <a:srgbClr val="2B2B2B"/>
                </a:solidFill>
                <a:latin typeface="Arial" pitchFamily="34" charset="0"/>
                <a:ea typeface="Arial" pitchFamily="34" charset="-122"/>
                <a:cs typeface="Arial" pitchFamily="34" charset="-120"/>
              </a:rPr>
              <a:t>Parcours en 4 étapes : menu → panier → commande → suivi.</a:t>
            </a:r>
            <a:endParaRPr lang="en-US" sz="1500" dirty="0"/>
          </a:p>
          <a:p>
            <a:pPr marL="228600" indent="-228600">
              <a:lnSpc>
                <a:spcPct val="105000"/>
              </a:lnSpc>
              <a:spcAft>
                <a:spcPts val="1100"/>
              </a:spcAft>
              <a:buSzPct val="100000"/>
              <a:buChar char="•"/>
            </a:pPr>
            <a:r>
              <a:rPr lang="en-US" sz="1500" dirty="0">
                <a:solidFill>
                  <a:srgbClr val="2B2B2B"/>
                </a:solidFill>
                <a:latin typeface="Arial" pitchFamily="34" charset="0"/>
                <a:ea typeface="Arial" pitchFamily="34" charset="-122"/>
                <a:cs typeface="Arial" pitchFamily="34" charset="-120"/>
              </a:rPr>
              <a:t>Panier stocké en session côté serveur, recalculé au prix actuel des plats.</a:t>
            </a:r>
            <a:endParaRPr lang="en-US" sz="1500" dirty="0"/>
          </a:p>
          <a:p>
            <a:pPr marL="228600" indent="-228600">
              <a:lnSpc>
                <a:spcPct val="105000"/>
              </a:lnSpc>
              <a:spcAft>
                <a:spcPts val="1100"/>
              </a:spcAft>
              <a:buSzPct val="100000"/>
              <a:buChar char="•"/>
            </a:pPr>
            <a:r>
              <a:rPr lang="en-US" sz="1500" dirty="0">
                <a:solidFill>
                  <a:srgbClr val="2B2B2B"/>
                </a:solidFill>
                <a:latin typeface="Arial" pitchFamily="34" charset="0"/>
                <a:ea typeface="Arial" pitchFamily="34" charset="-122"/>
                <a:cs typeface="Arial" pitchFamily="34" charset="-120"/>
              </a:rPr>
              <a:t>Ajout et quantités en AJAX : compteur, sous-totaux et total mis à jour sans rechargement (repli formulaire si JavaScript absent).</a:t>
            </a:r>
            <a:endParaRPr lang="en-US" sz="1500" dirty="0"/>
          </a:p>
          <a:p>
            <a:pPr marL="228600" indent="-228600">
              <a:lnSpc>
                <a:spcPct val="105000"/>
              </a:lnSpc>
              <a:spcAft>
                <a:spcPts val="1100"/>
              </a:spcAft>
              <a:buSzPct val="100000"/>
              <a:buChar char="•"/>
            </a:pPr>
            <a:r>
              <a:rPr lang="en-US" sz="1500" dirty="0">
                <a:solidFill>
                  <a:srgbClr val="2B2B2B"/>
                </a:solidFill>
                <a:latin typeface="Arial" pitchFamily="34" charset="0"/>
                <a:ea typeface="Arial" pitchFamily="34" charset="-122"/>
                <a:cs typeface="Arial" pitchFamily="34" charset="-120"/>
              </a:rPr>
              <a:t>Client identifié par son numéro de téléphone (firstOrCreate) : pas de doublon, pas de mot de passe.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B14A28"/>
          </a:solidFill>
          <a:ln/>
        </p:spPr>
      </p:sp>
      <p:sp>
        <p:nvSpPr>
          <p:cNvPr id="3" name="Shape 1"/>
          <p:cNvSpPr/>
          <p:nvPr/>
        </p:nvSpPr>
        <p:spPr>
          <a:xfrm>
            <a:off x="0" y="868680"/>
            <a:ext cx="9144000" cy="54864"/>
          </a:xfrm>
          <a:prstGeom prst="rect">
            <a:avLst/>
          </a:prstGeom>
          <a:solidFill>
            <a:srgbClr val="E8A33D"/>
          </a:solidFill>
          <a:ln/>
        </p:spPr>
      </p:sp>
      <p:sp>
        <p:nvSpPr>
          <p:cNvPr id="4" name="Text 2"/>
          <p:cNvSpPr/>
          <p:nvPr/>
        </p:nvSpPr>
        <p:spPr>
          <a:xfrm>
            <a:off x="365760" y="109728"/>
            <a:ext cx="8412480" cy="256032"/>
          </a:xfrm>
          <a:prstGeom prst="rect">
            <a:avLst/>
          </a:prstGeom>
          <a:noFill/>
          <a:ln/>
        </p:spPr>
        <p:txBody>
          <a:bodyPr wrap="square" rtlCol="0" anchor="ctr"/>
          <a:lstStyle/>
          <a:p>
            <a:pPr indent="0" marL="0">
              <a:buNone/>
            </a:pPr>
            <a:r>
              <a:rPr lang="en-US" sz="1100" b="1" spc="200" kern="0" dirty="0">
                <a:solidFill>
                  <a:srgbClr val="FFE2CC"/>
                </a:solidFill>
                <a:latin typeface="Arial" pitchFamily="34" charset="0"/>
                <a:ea typeface="Arial" pitchFamily="34" charset="-122"/>
                <a:cs typeface="Arial" pitchFamily="34" charset="-120"/>
              </a:rPr>
              <a:t>II. CAS 2 — PROBLÉMATIQUE</a:t>
            </a:r>
            <a:endParaRPr lang="en-US" sz="1100" dirty="0"/>
          </a:p>
        </p:txBody>
      </p:sp>
      <p:sp>
        <p:nvSpPr>
          <p:cNvPr id="5" name="Text 3"/>
          <p:cNvSpPr/>
          <p:nvPr/>
        </p:nvSpPr>
        <p:spPr>
          <a:xfrm>
            <a:off x="365760" y="329184"/>
            <a:ext cx="8412480" cy="50292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2️⃣  Accès gérant non protégé</a:t>
            </a:r>
            <a:endParaRPr lang="en-US" sz="2400" dirty="0"/>
          </a:p>
        </p:txBody>
      </p:sp>
      <p:sp>
        <p:nvSpPr>
          <p:cNvPr id="7" name="Shape 4"/>
          <p:cNvSpPr/>
          <p:nvPr/>
        </p:nvSpPr>
        <p:spPr>
          <a:xfrm>
            <a:off x="0" y="4901184"/>
            <a:ext cx="9144000" cy="242316"/>
          </a:xfrm>
          <a:prstGeom prst="rect">
            <a:avLst/>
          </a:prstGeom>
          <a:solidFill>
            <a:srgbClr val="FBF4EA"/>
          </a:solidFill>
          <a:ln/>
        </p:spPr>
      </p:sp>
      <p:sp>
        <p:nvSpPr>
          <p:cNvPr id="8" name="Text 5"/>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9" name="Text 6"/>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10</a:t>
            </a:r>
            <a:endParaRPr lang="en-US" sz="900" dirty="0"/>
          </a:p>
        </p:txBody>
      </p:sp>
      <p:sp>
        <p:nvSpPr>
          <p:cNvPr id="10" name="Shape 7"/>
          <p:cNvSpPr/>
          <p:nvPr/>
        </p:nvSpPr>
        <p:spPr>
          <a:xfrm>
            <a:off x="502920" y="1325880"/>
            <a:ext cx="1371600" cy="1371600"/>
          </a:xfrm>
          <a:prstGeom prst="roundRect">
            <a:avLst>
              <a:gd name="adj" fmla="val 6667"/>
            </a:avLst>
          </a:prstGeom>
          <a:solidFill>
            <a:srgbClr val="FBF4EA"/>
          </a:solidFill>
          <a:ln w="12700">
            <a:solidFill>
              <a:srgbClr val="B14A28"/>
            </a:solidFill>
            <a:prstDash val="solid"/>
          </a:ln>
        </p:spPr>
      </p:sp>
      <p:sp>
        <p:nvSpPr>
          <p:cNvPr id="11" name="Text 8"/>
          <p:cNvSpPr/>
          <p:nvPr/>
        </p:nvSpPr>
        <p:spPr>
          <a:xfrm>
            <a:off x="502920" y="1371600"/>
            <a:ext cx="1371600" cy="1280160"/>
          </a:xfrm>
          <a:prstGeom prst="rect">
            <a:avLst/>
          </a:prstGeom>
          <a:noFill/>
          <a:ln/>
        </p:spPr>
        <p:txBody>
          <a:bodyPr wrap="square" rtlCol="0" anchor="ctr"/>
          <a:lstStyle/>
          <a:p>
            <a:pPr algn="ctr" indent="0" marL="0">
              <a:buNone/>
            </a:pPr>
            <a:r>
              <a:rPr lang="en-US" sz="5400" dirty="0">
                <a:solidFill>
                  <a:srgbClr val="000000"/>
                </a:solidFill>
              </a:rPr>
              <a:t>❓</a:t>
            </a:r>
            <a:endParaRPr lang="en-US" sz="5400" dirty="0"/>
          </a:p>
        </p:txBody>
      </p:sp>
      <p:sp>
        <p:nvSpPr>
          <p:cNvPr id="12" name="Text 9"/>
          <p:cNvSpPr/>
          <p:nvPr/>
        </p:nvSpPr>
        <p:spPr>
          <a:xfrm>
            <a:off x="502920" y="2542032"/>
            <a:ext cx="1371600" cy="228600"/>
          </a:xfrm>
          <a:prstGeom prst="rect">
            <a:avLst/>
          </a:prstGeom>
          <a:noFill/>
          <a:ln/>
        </p:spPr>
        <p:txBody>
          <a:bodyPr wrap="square" rtlCol="0" anchor="ctr"/>
          <a:lstStyle/>
          <a:p>
            <a:pPr algn="ctr" indent="0" marL="0">
              <a:buNone/>
            </a:pPr>
            <a:r>
              <a:rPr lang="en-US" sz="900" b="1" spc="100" kern="0" dirty="0">
                <a:solidFill>
                  <a:srgbClr val="B14A28"/>
                </a:solidFill>
                <a:latin typeface="Arial" pitchFamily="34" charset="0"/>
                <a:ea typeface="Arial" pitchFamily="34" charset="-122"/>
                <a:cs typeface="Arial" pitchFamily="34" charset="-120"/>
              </a:rPr>
              <a:t>PROBLÉMATIQUE</a:t>
            </a:r>
            <a:endParaRPr lang="en-US" sz="900" dirty="0"/>
          </a:p>
        </p:txBody>
      </p:sp>
      <p:sp>
        <p:nvSpPr>
          <p:cNvPr id="13" name="Text 10"/>
          <p:cNvSpPr/>
          <p:nvPr/>
        </p:nvSpPr>
        <p:spPr>
          <a:xfrm>
            <a:off x="2194560" y="1554480"/>
            <a:ext cx="6492240" cy="2926080"/>
          </a:xfrm>
          <a:prstGeom prst="rect">
            <a:avLst/>
          </a:prstGeom>
          <a:noFill/>
          <a:ln/>
        </p:spPr>
        <p:txBody>
          <a:bodyPr wrap="square" rtlCol="0" anchor="t"/>
          <a:lstStyle/>
          <a:p>
            <a:pPr marL="228600" indent="-228600">
              <a:lnSpc>
                <a:spcPct val="105000"/>
              </a:lnSpc>
              <a:spcAft>
                <a:spcPts val="1400"/>
              </a:spcAft>
              <a:buSzPct val="100000"/>
              <a:buChar char="•"/>
            </a:pPr>
            <a:r>
              <a:rPr lang="en-US" sz="1700" dirty="0">
                <a:solidFill>
                  <a:srgbClr val="2B2B2B"/>
                </a:solidFill>
                <a:latin typeface="Arial" pitchFamily="34" charset="0"/>
                <a:ea typeface="Arial" pitchFamily="34" charset="-122"/>
                <a:cs typeface="Arial" pitchFamily="34" charset="-120"/>
              </a:rPr>
              <a:t>L'ancien accès /admin était libre : n'importe qui pouvait gérer la carte et les commandes.</a:t>
            </a:r>
            <a:endParaRPr lang="en-US" sz="1700" dirty="0"/>
          </a:p>
          <a:p>
            <a:pPr marL="228600" indent="-228600">
              <a:lnSpc>
                <a:spcPct val="105000"/>
              </a:lnSpc>
              <a:spcAft>
                <a:spcPts val="1400"/>
              </a:spcAft>
              <a:buSzPct val="100000"/>
              <a:buChar char="•"/>
            </a:pPr>
            <a:r>
              <a:rPr lang="en-US" sz="1700" dirty="0">
                <a:solidFill>
                  <a:srgbClr val="2B2B2B"/>
                </a:solidFill>
                <a:latin typeface="Arial" pitchFamily="34" charset="0"/>
                <a:ea typeface="Arial" pitchFamily="34" charset="-122"/>
                <a:cs typeface="Arial" pitchFamily="34" charset="-120"/>
              </a:rPr>
              <a:t>➡  Risque de sécurité majeur — point bloquant à corriger.</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4E7D3A"/>
          </a:solidFill>
          <a:ln/>
        </p:spPr>
      </p:sp>
      <p:sp>
        <p:nvSpPr>
          <p:cNvPr id="3" name="Shape 1"/>
          <p:cNvSpPr/>
          <p:nvPr/>
        </p:nvSpPr>
        <p:spPr>
          <a:xfrm>
            <a:off x="0" y="868680"/>
            <a:ext cx="9144000" cy="54864"/>
          </a:xfrm>
          <a:prstGeom prst="rect">
            <a:avLst/>
          </a:prstGeom>
          <a:solidFill>
            <a:srgbClr val="E8A33D"/>
          </a:solidFill>
          <a:ln/>
        </p:spPr>
      </p:sp>
      <p:sp>
        <p:nvSpPr>
          <p:cNvPr id="4" name="Text 2"/>
          <p:cNvSpPr/>
          <p:nvPr/>
        </p:nvSpPr>
        <p:spPr>
          <a:xfrm>
            <a:off x="365760" y="109728"/>
            <a:ext cx="8412480" cy="256032"/>
          </a:xfrm>
          <a:prstGeom prst="rect">
            <a:avLst/>
          </a:prstGeom>
          <a:noFill/>
          <a:ln/>
        </p:spPr>
        <p:txBody>
          <a:bodyPr wrap="square" rtlCol="0" anchor="ctr"/>
          <a:lstStyle/>
          <a:p>
            <a:pPr indent="0" marL="0">
              <a:buNone/>
            </a:pPr>
            <a:r>
              <a:rPr lang="en-US" sz="1100" b="1" spc="200" kern="0" dirty="0">
                <a:solidFill>
                  <a:srgbClr val="FFE2CC"/>
                </a:solidFill>
                <a:latin typeface="Arial" pitchFamily="34" charset="0"/>
                <a:ea typeface="Arial" pitchFamily="34" charset="-122"/>
                <a:cs typeface="Arial" pitchFamily="34" charset="-120"/>
              </a:rPr>
              <a:t>II. CAS 2 — SOLUTION</a:t>
            </a:r>
            <a:endParaRPr lang="en-US" sz="1100" dirty="0"/>
          </a:p>
        </p:txBody>
      </p:sp>
      <p:sp>
        <p:nvSpPr>
          <p:cNvPr id="5" name="Text 3"/>
          <p:cNvSpPr/>
          <p:nvPr/>
        </p:nvSpPr>
        <p:spPr>
          <a:xfrm>
            <a:off x="365760" y="329184"/>
            <a:ext cx="8412480" cy="50292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2️⃣  Authentification + contrôle de rôle</a:t>
            </a:r>
            <a:endParaRPr lang="en-US" sz="2400" dirty="0"/>
          </a:p>
        </p:txBody>
      </p:sp>
      <p:sp>
        <p:nvSpPr>
          <p:cNvPr id="7" name="Shape 4"/>
          <p:cNvSpPr/>
          <p:nvPr/>
        </p:nvSpPr>
        <p:spPr>
          <a:xfrm>
            <a:off x="0" y="4901184"/>
            <a:ext cx="9144000" cy="242316"/>
          </a:xfrm>
          <a:prstGeom prst="rect">
            <a:avLst/>
          </a:prstGeom>
          <a:solidFill>
            <a:srgbClr val="FBF4EA"/>
          </a:solidFill>
          <a:ln/>
        </p:spPr>
      </p:sp>
      <p:sp>
        <p:nvSpPr>
          <p:cNvPr id="8" name="Text 5"/>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9" name="Text 6"/>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11</a:t>
            </a:r>
            <a:endParaRPr lang="en-US" sz="900" dirty="0"/>
          </a:p>
        </p:txBody>
      </p:sp>
      <p:sp>
        <p:nvSpPr>
          <p:cNvPr id="10" name="Shape 7"/>
          <p:cNvSpPr/>
          <p:nvPr/>
        </p:nvSpPr>
        <p:spPr>
          <a:xfrm>
            <a:off x="502920" y="1325880"/>
            <a:ext cx="1371600" cy="1371600"/>
          </a:xfrm>
          <a:prstGeom prst="roundRect">
            <a:avLst>
              <a:gd name="adj" fmla="val 6667"/>
            </a:avLst>
          </a:prstGeom>
          <a:solidFill>
            <a:srgbClr val="EAF1E4"/>
          </a:solidFill>
          <a:ln w="12700">
            <a:solidFill>
              <a:srgbClr val="4E7D3A"/>
            </a:solidFill>
            <a:prstDash val="solid"/>
          </a:ln>
        </p:spPr>
      </p:sp>
      <p:sp>
        <p:nvSpPr>
          <p:cNvPr id="11" name="Text 8"/>
          <p:cNvSpPr/>
          <p:nvPr/>
        </p:nvSpPr>
        <p:spPr>
          <a:xfrm>
            <a:off x="502920" y="1371600"/>
            <a:ext cx="1371600" cy="1280160"/>
          </a:xfrm>
          <a:prstGeom prst="rect">
            <a:avLst/>
          </a:prstGeom>
          <a:noFill/>
          <a:ln/>
        </p:spPr>
        <p:txBody>
          <a:bodyPr wrap="square" rtlCol="0" anchor="ctr"/>
          <a:lstStyle/>
          <a:p>
            <a:pPr algn="ctr" indent="0" marL="0">
              <a:buNone/>
            </a:pPr>
            <a:r>
              <a:rPr lang="en-US" sz="5400" dirty="0">
                <a:solidFill>
                  <a:srgbClr val="000000"/>
                </a:solidFill>
              </a:rPr>
              <a:t>✅</a:t>
            </a:r>
            <a:endParaRPr lang="en-US" sz="5400" dirty="0"/>
          </a:p>
        </p:txBody>
      </p:sp>
      <p:sp>
        <p:nvSpPr>
          <p:cNvPr id="12" name="Text 9"/>
          <p:cNvSpPr/>
          <p:nvPr/>
        </p:nvSpPr>
        <p:spPr>
          <a:xfrm>
            <a:off x="502920" y="2542032"/>
            <a:ext cx="1371600" cy="228600"/>
          </a:xfrm>
          <a:prstGeom prst="rect">
            <a:avLst/>
          </a:prstGeom>
          <a:noFill/>
          <a:ln/>
        </p:spPr>
        <p:txBody>
          <a:bodyPr wrap="square" rtlCol="0" anchor="ctr"/>
          <a:lstStyle/>
          <a:p>
            <a:pPr algn="ctr" indent="0" marL="0">
              <a:buNone/>
            </a:pPr>
            <a:r>
              <a:rPr lang="en-US" sz="900" b="1" spc="100" kern="0" dirty="0">
                <a:solidFill>
                  <a:srgbClr val="4E7D3A"/>
                </a:solidFill>
                <a:latin typeface="Arial" pitchFamily="34" charset="0"/>
                <a:ea typeface="Arial" pitchFamily="34" charset="-122"/>
                <a:cs typeface="Arial" pitchFamily="34" charset="-120"/>
              </a:rPr>
              <a:t>SOLUTION</a:t>
            </a:r>
            <a:endParaRPr lang="en-US" sz="900" dirty="0"/>
          </a:p>
        </p:txBody>
      </p:sp>
      <p:sp>
        <p:nvSpPr>
          <p:cNvPr id="13" name="Text 10"/>
          <p:cNvSpPr/>
          <p:nvPr/>
        </p:nvSpPr>
        <p:spPr>
          <a:xfrm>
            <a:off x="2194560" y="1417320"/>
            <a:ext cx="6492240" cy="3200400"/>
          </a:xfrm>
          <a:prstGeom prst="rect">
            <a:avLst/>
          </a:prstGeom>
          <a:noFill/>
          <a:ln/>
        </p:spPr>
        <p:txBody>
          <a:bodyPr wrap="square" rtlCol="0" anchor="t"/>
          <a:lstStyle/>
          <a:p>
            <a:pPr marL="228600" indent="-228600">
              <a:lnSpc>
                <a:spcPct val="105000"/>
              </a:lnSpc>
              <a:spcAft>
                <a:spcPts val="1100"/>
              </a:spcAft>
              <a:buSzPct val="100000"/>
              <a:buChar char="•"/>
            </a:pPr>
            <a:r>
              <a:rPr lang="en-US" sz="1500" dirty="0">
                <a:solidFill>
                  <a:srgbClr val="2B2B2B"/>
                </a:solidFill>
                <a:latin typeface="Arial" pitchFamily="34" charset="0"/>
                <a:ea typeface="Arial" pitchFamily="34" charset="-122"/>
                <a:cs typeface="Arial" pitchFamily="34" charset="-120"/>
              </a:rPr>
              <a:t>Authentification Laravel (garde web) avec écran de connexion dédié.</a:t>
            </a:r>
            <a:endParaRPr lang="en-US" sz="1500" dirty="0"/>
          </a:p>
          <a:p>
            <a:pPr marL="228600" indent="-228600">
              <a:lnSpc>
                <a:spcPct val="105000"/>
              </a:lnSpc>
              <a:spcAft>
                <a:spcPts val="1100"/>
              </a:spcAft>
              <a:buSzPct val="100000"/>
              <a:buChar char="•"/>
            </a:pPr>
            <a:r>
              <a:rPr lang="en-US" sz="1500" dirty="0">
                <a:solidFill>
                  <a:srgbClr val="2B2B2B"/>
                </a:solidFill>
                <a:latin typeface="Arial" pitchFamily="34" charset="0"/>
                <a:ea typeface="Arial" pitchFamily="34" charset="-122"/>
                <a:cs typeface="Arial" pitchFamily="34" charset="-120"/>
              </a:rPr>
              <a:t>Deux rôles : admin (accès complet) et operator (commandes uniquement).</a:t>
            </a:r>
            <a:endParaRPr lang="en-US" sz="1500" dirty="0"/>
          </a:p>
          <a:p>
            <a:pPr marL="228600" indent="-228600">
              <a:lnSpc>
                <a:spcPct val="105000"/>
              </a:lnSpc>
              <a:spcAft>
                <a:spcPts val="1100"/>
              </a:spcAft>
              <a:buSzPct val="100000"/>
              <a:buChar char="•"/>
            </a:pPr>
            <a:r>
              <a:rPr lang="en-US" sz="1500" dirty="0">
                <a:solidFill>
                  <a:srgbClr val="2B2B2B"/>
                </a:solidFill>
                <a:latin typeface="Arial" pitchFamily="34" charset="0"/>
                <a:ea typeface="Arial" pitchFamily="34" charset="-122"/>
                <a:cs typeface="Arial" pitchFamily="34" charset="-120"/>
              </a:rPr>
              <a:t>Middlewares de rôle renvoyant une erreur 403 si l'accès n'est pas autorisé.</a:t>
            </a:r>
            <a:endParaRPr lang="en-US" sz="1500" dirty="0"/>
          </a:p>
          <a:p>
            <a:pPr marL="228600" indent="-228600">
              <a:lnSpc>
                <a:spcPct val="105000"/>
              </a:lnSpc>
              <a:spcAft>
                <a:spcPts val="1100"/>
              </a:spcAft>
              <a:buSzPct val="100000"/>
              <a:buChar char="•"/>
            </a:pPr>
            <a:r>
              <a:rPr lang="en-US" sz="1500" dirty="0">
                <a:solidFill>
                  <a:srgbClr val="2B2B2B"/>
                </a:solidFill>
                <a:latin typeface="Arial" pitchFamily="34" charset="0"/>
                <a:ea typeface="Arial" pitchFamily="34" charset="-122"/>
                <a:cs typeface="Arial" pitchFamily="34" charset="-120"/>
              </a:rPr>
              <a:t>Durcissement : throttle 6/min à la connexion, régénération de session, vérification du rôle (un client est refusé), role hors $fillable.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B14A28"/>
          </a:solidFill>
          <a:ln/>
        </p:spPr>
      </p:sp>
      <p:sp>
        <p:nvSpPr>
          <p:cNvPr id="3" name="Shape 1"/>
          <p:cNvSpPr/>
          <p:nvPr/>
        </p:nvSpPr>
        <p:spPr>
          <a:xfrm>
            <a:off x="0" y="868680"/>
            <a:ext cx="9144000" cy="54864"/>
          </a:xfrm>
          <a:prstGeom prst="rect">
            <a:avLst/>
          </a:prstGeom>
          <a:solidFill>
            <a:srgbClr val="E8A33D"/>
          </a:solidFill>
          <a:ln/>
        </p:spPr>
      </p:sp>
      <p:sp>
        <p:nvSpPr>
          <p:cNvPr id="4" name="Text 2"/>
          <p:cNvSpPr/>
          <p:nvPr/>
        </p:nvSpPr>
        <p:spPr>
          <a:xfrm>
            <a:off x="365760" y="109728"/>
            <a:ext cx="8412480" cy="256032"/>
          </a:xfrm>
          <a:prstGeom prst="rect">
            <a:avLst/>
          </a:prstGeom>
          <a:noFill/>
          <a:ln/>
        </p:spPr>
        <p:txBody>
          <a:bodyPr wrap="square" rtlCol="0" anchor="ctr"/>
          <a:lstStyle/>
          <a:p>
            <a:pPr indent="0" marL="0">
              <a:buNone/>
            </a:pPr>
            <a:r>
              <a:rPr lang="en-US" sz="1100" b="1" spc="200" kern="0" dirty="0">
                <a:solidFill>
                  <a:srgbClr val="FFE2CC"/>
                </a:solidFill>
                <a:latin typeface="Arial" pitchFamily="34" charset="0"/>
                <a:ea typeface="Arial" pitchFamily="34" charset="-122"/>
                <a:cs typeface="Arial" pitchFamily="34" charset="-120"/>
              </a:rPr>
              <a:t>II. CAS 3 — PROBLÉMATIQUE</a:t>
            </a:r>
            <a:endParaRPr lang="en-US" sz="1100" dirty="0"/>
          </a:p>
        </p:txBody>
      </p:sp>
      <p:sp>
        <p:nvSpPr>
          <p:cNvPr id="5" name="Text 3"/>
          <p:cNvSpPr/>
          <p:nvPr/>
        </p:nvSpPr>
        <p:spPr>
          <a:xfrm>
            <a:off x="365760" y="329184"/>
            <a:ext cx="8412480" cy="50292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3️⃣  Intégrité des commandes</a:t>
            </a:r>
            <a:endParaRPr lang="en-US" sz="2400" dirty="0"/>
          </a:p>
        </p:txBody>
      </p:sp>
      <p:sp>
        <p:nvSpPr>
          <p:cNvPr id="7" name="Shape 4"/>
          <p:cNvSpPr/>
          <p:nvPr/>
        </p:nvSpPr>
        <p:spPr>
          <a:xfrm>
            <a:off x="0" y="4901184"/>
            <a:ext cx="9144000" cy="242316"/>
          </a:xfrm>
          <a:prstGeom prst="rect">
            <a:avLst/>
          </a:prstGeom>
          <a:solidFill>
            <a:srgbClr val="FBF4EA"/>
          </a:solidFill>
          <a:ln/>
        </p:spPr>
      </p:sp>
      <p:sp>
        <p:nvSpPr>
          <p:cNvPr id="8" name="Text 5"/>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9" name="Text 6"/>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12</a:t>
            </a:r>
            <a:endParaRPr lang="en-US" sz="900" dirty="0"/>
          </a:p>
        </p:txBody>
      </p:sp>
      <p:sp>
        <p:nvSpPr>
          <p:cNvPr id="10" name="Shape 7"/>
          <p:cNvSpPr/>
          <p:nvPr/>
        </p:nvSpPr>
        <p:spPr>
          <a:xfrm>
            <a:off x="502920" y="1325880"/>
            <a:ext cx="1371600" cy="1371600"/>
          </a:xfrm>
          <a:prstGeom prst="roundRect">
            <a:avLst>
              <a:gd name="adj" fmla="val 6667"/>
            </a:avLst>
          </a:prstGeom>
          <a:solidFill>
            <a:srgbClr val="FBF4EA"/>
          </a:solidFill>
          <a:ln w="12700">
            <a:solidFill>
              <a:srgbClr val="B14A28"/>
            </a:solidFill>
            <a:prstDash val="solid"/>
          </a:ln>
        </p:spPr>
      </p:sp>
      <p:sp>
        <p:nvSpPr>
          <p:cNvPr id="11" name="Text 8"/>
          <p:cNvSpPr/>
          <p:nvPr/>
        </p:nvSpPr>
        <p:spPr>
          <a:xfrm>
            <a:off x="502920" y="1371600"/>
            <a:ext cx="1371600" cy="1280160"/>
          </a:xfrm>
          <a:prstGeom prst="rect">
            <a:avLst/>
          </a:prstGeom>
          <a:noFill/>
          <a:ln/>
        </p:spPr>
        <p:txBody>
          <a:bodyPr wrap="square" rtlCol="0" anchor="ctr"/>
          <a:lstStyle/>
          <a:p>
            <a:pPr algn="ctr" indent="0" marL="0">
              <a:buNone/>
            </a:pPr>
            <a:r>
              <a:rPr lang="en-US" sz="5400" dirty="0">
                <a:solidFill>
                  <a:srgbClr val="000000"/>
                </a:solidFill>
              </a:rPr>
              <a:t>❓</a:t>
            </a:r>
            <a:endParaRPr lang="en-US" sz="5400" dirty="0"/>
          </a:p>
        </p:txBody>
      </p:sp>
      <p:sp>
        <p:nvSpPr>
          <p:cNvPr id="12" name="Text 9"/>
          <p:cNvSpPr/>
          <p:nvPr/>
        </p:nvSpPr>
        <p:spPr>
          <a:xfrm>
            <a:off x="502920" y="2542032"/>
            <a:ext cx="1371600" cy="228600"/>
          </a:xfrm>
          <a:prstGeom prst="rect">
            <a:avLst/>
          </a:prstGeom>
          <a:noFill/>
          <a:ln/>
        </p:spPr>
        <p:txBody>
          <a:bodyPr wrap="square" rtlCol="0" anchor="ctr"/>
          <a:lstStyle/>
          <a:p>
            <a:pPr algn="ctr" indent="0" marL="0">
              <a:buNone/>
            </a:pPr>
            <a:r>
              <a:rPr lang="en-US" sz="900" b="1" spc="100" kern="0" dirty="0">
                <a:solidFill>
                  <a:srgbClr val="B14A28"/>
                </a:solidFill>
                <a:latin typeface="Arial" pitchFamily="34" charset="0"/>
                <a:ea typeface="Arial" pitchFamily="34" charset="-122"/>
                <a:cs typeface="Arial" pitchFamily="34" charset="-120"/>
              </a:rPr>
              <a:t>PROBLÉMATIQUE</a:t>
            </a:r>
            <a:endParaRPr lang="en-US" sz="900" dirty="0"/>
          </a:p>
        </p:txBody>
      </p:sp>
      <p:sp>
        <p:nvSpPr>
          <p:cNvPr id="13" name="Text 10"/>
          <p:cNvSpPr/>
          <p:nvPr/>
        </p:nvSpPr>
        <p:spPr>
          <a:xfrm>
            <a:off x="2194560" y="1554480"/>
            <a:ext cx="6492240" cy="2926080"/>
          </a:xfrm>
          <a:prstGeom prst="rect">
            <a:avLst/>
          </a:prstGeom>
          <a:noFill/>
          <a:ln/>
        </p:spPr>
        <p:txBody>
          <a:bodyPr wrap="square" rtlCol="0" anchor="t"/>
          <a:lstStyle/>
          <a:p>
            <a:pPr marL="228600" indent="-228600">
              <a:lnSpc>
                <a:spcPct val="105000"/>
              </a:lnSpc>
              <a:spcAft>
                <a:spcPts val="1400"/>
              </a:spcAft>
              <a:buSzPct val="100000"/>
              <a:buChar char="•"/>
            </a:pPr>
            <a:r>
              <a:rPr lang="en-US" sz="1700" dirty="0">
                <a:solidFill>
                  <a:srgbClr val="2B2B2B"/>
                </a:solidFill>
                <a:latin typeface="Arial" pitchFamily="34" charset="0"/>
                <a:ea typeface="Arial" pitchFamily="34" charset="-122"/>
                <a:cs typeface="Arial" pitchFamily="34" charset="-120"/>
              </a:rPr>
              <a:t>Un changement de prix d'un plat ne doit pas altérer les commandes déjà passées.</a:t>
            </a:r>
            <a:endParaRPr lang="en-US" sz="1700" dirty="0"/>
          </a:p>
          <a:p>
            <a:pPr marL="228600" indent="-228600">
              <a:lnSpc>
                <a:spcPct val="105000"/>
              </a:lnSpc>
              <a:spcAft>
                <a:spcPts val="1400"/>
              </a:spcAft>
              <a:buSzPct val="100000"/>
              <a:buChar char="•"/>
            </a:pPr>
            <a:r>
              <a:rPr lang="en-US" sz="1700" dirty="0">
                <a:solidFill>
                  <a:srgbClr val="2B2B2B"/>
                </a:solidFill>
                <a:latin typeface="Arial" pitchFamily="34" charset="0"/>
                <a:ea typeface="Arial" pitchFamily="34" charset="-122"/>
                <a:cs typeface="Arial" pitchFamily="34" charset="-120"/>
              </a:rPr>
              <a:t>Une commande ne doit jamais être enregistrée à moitié (erreur en cours d'écriture).</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4E7D3A"/>
          </a:solidFill>
          <a:ln/>
        </p:spPr>
      </p:sp>
      <p:sp>
        <p:nvSpPr>
          <p:cNvPr id="3" name="Shape 1"/>
          <p:cNvSpPr/>
          <p:nvPr/>
        </p:nvSpPr>
        <p:spPr>
          <a:xfrm>
            <a:off x="0" y="868680"/>
            <a:ext cx="9144000" cy="54864"/>
          </a:xfrm>
          <a:prstGeom prst="rect">
            <a:avLst/>
          </a:prstGeom>
          <a:solidFill>
            <a:srgbClr val="E8A33D"/>
          </a:solidFill>
          <a:ln/>
        </p:spPr>
      </p:sp>
      <p:sp>
        <p:nvSpPr>
          <p:cNvPr id="4" name="Text 2"/>
          <p:cNvSpPr/>
          <p:nvPr/>
        </p:nvSpPr>
        <p:spPr>
          <a:xfrm>
            <a:off x="365760" y="109728"/>
            <a:ext cx="8412480" cy="256032"/>
          </a:xfrm>
          <a:prstGeom prst="rect">
            <a:avLst/>
          </a:prstGeom>
          <a:noFill/>
          <a:ln/>
        </p:spPr>
        <p:txBody>
          <a:bodyPr wrap="square" rtlCol="0" anchor="ctr"/>
          <a:lstStyle/>
          <a:p>
            <a:pPr indent="0" marL="0">
              <a:buNone/>
            </a:pPr>
            <a:r>
              <a:rPr lang="en-US" sz="1100" b="1" spc="200" kern="0" dirty="0">
                <a:solidFill>
                  <a:srgbClr val="FFE2CC"/>
                </a:solidFill>
                <a:latin typeface="Arial" pitchFamily="34" charset="0"/>
                <a:ea typeface="Arial" pitchFamily="34" charset="-122"/>
                <a:cs typeface="Arial" pitchFamily="34" charset="-120"/>
              </a:rPr>
              <a:t>II. CAS 3 — SOLUTION</a:t>
            </a:r>
            <a:endParaRPr lang="en-US" sz="1100" dirty="0"/>
          </a:p>
        </p:txBody>
      </p:sp>
      <p:sp>
        <p:nvSpPr>
          <p:cNvPr id="5" name="Text 3"/>
          <p:cNvSpPr/>
          <p:nvPr/>
        </p:nvSpPr>
        <p:spPr>
          <a:xfrm>
            <a:off x="365760" y="329184"/>
            <a:ext cx="8412480" cy="50292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3️⃣  Prix figés, transaction, historique</a:t>
            </a:r>
            <a:endParaRPr lang="en-US" sz="2400" dirty="0"/>
          </a:p>
        </p:txBody>
      </p:sp>
      <p:sp>
        <p:nvSpPr>
          <p:cNvPr id="7" name="Shape 4"/>
          <p:cNvSpPr/>
          <p:nvPr/>
        </p:nvSpPr>
        <p:spPr>
          <a:xfrm>
            <a:off x="0" y="4901184"/>
            <a:ext cx="9144000" cy="242316"/>
          </a:xfrm>
          <a:prstGeom prst="rect">
            <a:avLst/>
          </a:prstGeom>
          <a:solidFill>
            <a:srgbClr val="FBF4EA"/>
          </a:solidFill>
          <a:ln/>
        </p:spPr>
      </p:sp>
      <p:sp>
        <p:nvSpPr>
          <p:cNvPr id="8" name="Text 5"/>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9" name="Text 6"/>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13</a:t>
            </a:r>
            <a:endParaRPr lang="en-US" sz="900" dirty="0"/>
          </a:p>
        </p:txBody>
      </p:sp>
      <p:sp>
        <p:nvSpPr>
          <p:cNvPr id="10" name="Shape 7"/>
          <p:cNvSpPr/>
          <p:nvPr/>
        </p:nvSpPr>
        <p:spPr>
          <a:xfrm>
            <a:off x="502920" y="1325880"/>
            <a:ext cx="1371600" cy="1371600"/>
          </a:xfrm>
          <a:prstGeom prst="roundRect">
            <a:avLst>
              <a:gd name="adj" fmla="val 6667"/>
            </a:avLst>
          </a:prstGeom>
          <a:solidFill>
            <a:srgbClr val="EAF1E4"/>
          </a:solidFill>
          <a:ln w="12700">
            <a:solidFill>
              <a:srgbClr val="4E7D3A"/>
            </a:solidFill>
            <a:prstDash val="solid"/>
          </a:ln>
        </p:spPr>
      </p:sp>
      <p:sp>
        <p:nvSpPr>
          <p:cNvPr id="11" name="Text 8"/>
          <p:cNvSpPr/>
          <p:nvPr/>
        </p:nvSpPr>
        <p:spPr>
          <a:xfrm>
            <a:off x="502920" y="1371600"/>
            <a:ext cx="1371600" cy="1280160"/>
          </a:xfrm>
          <a:prstGeom prst="rect">
            <a:avLst/>
          </a:prstGeom>
          <a:noFill/>
          <a:ln/>
        </p:spPr>
        <p:txBody>
          <a:bodyPr wrap="square" rtlCol="0" anchor="ctr"/>
          <a:lstStyle/>
          <a:p>
            <a:pPr algn="ctr" indent="0" marL="0">
              <a:buNone/>
            </a:pPr>
            <a:r>
              <a:rPr lang="en-US" sz="5400" dirty="0">
                <a:solidFill>
                  <a:srgbClr val="000000"/>
                </a:solidFill>
              </a:rPr>
              <a:t>✅</a:t>
            </a:r>
            <a:endParaRPr lang="en-US" sz="5400" dirty="0"/>
          </a:p>
        </p:txBody>
      </p:sp>
      <p:sp>
        <p:nvSpPr>
          <p:cNvPr id="12" name="Text 9"/>
          <p:cNvSpPr/>
          <p:nvPr/>
        </p:nvSpPr>
        <p:spPr>
          <a:xfrm>
            <a:off x="502920" y="2542032"/>
            <a:ext cx="1371600" cy="228600"/>
          </a:xfrm>
          <a:prstGeom prst="rect">
            <a:avLst/>
          </a:prstGeom>
          <a:noFill/>
          <a:ln/>
        </p:spPr>
        <p:txBody>
          <a:bodyPr wrap="square" rtlCol="0" anchor="ctr"/>
          <a:lstStyle/>
          <a:p>
            <a:pPr algn="ctr" indent="0" marL="0">
              <a:buNone/>
            </a:pPr>
            <a:r>
              <a:rPr lang="en-US" sz="900" b="1" spc="100" kern="0" dirty="0">
                <a:solidFill>
                  <a:srgbClr val="4E7D3A"/>
                </a:solidFill>
                <a:latin typeface="Arial" pitchFamily="34" charset="0"/>
                <a:ea typeface="Arial" pitchFamily="34" charset="-122"/>
                <a:cs typeface="Arial" pitchFamily="34" charset="-120"/>
              </a:rPr>
              <a:t>SOLUTION</a:t>
            </a:r>
            <a:endParaRPr lang="en-US" sz="900" dirty="0"/>
          </a:p>
        </p:txBody>
      </p:sp>
      <p:sp>
        <p:nvSpPr>
          <p:cNvPr id="13" name="Text 10"/>
          <p:cNvSpPr/>
          <p:nvPr/>
        </p:nvSpPr>
        <p:spPr>
          <a:xfrm>
            <a:off x="2194560" y="1417320"/>
            <a:ext cx="6492240" cy="3200400"/>
          </a:xfrm>
          <a:prstGeom prst="rect">
            <a:avLst/>
          </a:prstGeom>
          <a:noFill/>
          <a:ln/>
        </p:spPr>
        <p:txBody>
          <a:bodyPr wrap="square" rtlCol="0" anchor="t"/>
          <a:lstStyle/>
          <a:p>
            <a:pPr marL="228600" indent="-228600">
              <a:lnSpc>
                <a:spcPct val="105000"/>
              </a:lnSpc>
              <a:spcAft>
                <a:spcPts val="1100"/>
              </a:spcAft>
              <a:buSzPct val="100000"/>
              <a:buChar char="•"/>
            </a:pPr>
            <a:r>
              <a:rPr lang="en-US" sz="1500" dirty="0">
                <a:solidFill>
                  <a:srgbClr val="2B2B2B"/>
                </a:solidFill>
                <a:latin typeface="Arial" pitchFamily="34" charset="0"/>
                <a:ea typeface="Arial" pitchFamily="34" charset="-122"/>
                <a:cs typeface="Arial" pitchFamily="34" charset="-120"/>
              </a:rPr>
              <a:t>Prix figés : le prix unitaire est copié dans la ligne de commande au moment de l'achat.</a:t>
            </a:r>
            <a:endParaRPr lang="en-US" sz="1500" dirty="0"/>
          </a:p>
          <a:p>
            <a:pPr marL="228600" indent="-228600">
              <a:lnSpc>
                <a:spcPct val="105000"/>
              </a:lnSpc>
              <a:spcAft>
                <a:spcPts val="1100"/>
              </a:spcAft>
              <a:buSzPct val="100000"/>
              <a:buChar char="•"/>
            </a:pPr>
            <a:r>
              <a:rPr lang="en-US" sz="1500" dirty="0">
                <a:solidFill>
                  <a:srgbClr val="2B2B2B"/>
                </a:solidFill>
                <a:latin typeface="Arial" pitchFamily="34" charset="0"/>
                <a:ea typeface="Arial" pitchFamily="34" charset="-122"/>
                <a:cs typeface="Arial" pitchFamily="34" charset="-120"/>
              </a:rPr>
              <a:t>Transaction atomique au checkout : la commande et ses lignes, ou rien.</a:t>
            </a:r>
            <a:endParaRPr lang="en-US" sz="1500" dirty="0"/>
          </a:p>
          <a:p>
            <a:pPr marL="228600" indent="-228600">
              <a:lnSpc>
                <a:spcPct val="105000"/>
              </a:lnSpc>
              <a:spcAft>
                <a:spcPts val="1100"/>
              </a:spcAft>
              <a:buSzPct val="100000"/>
              <a:buChar char="•"/>
            </a:pPr>
            <a:r>
              <a:rPr lang="en-US" sz="1500" dirty="0">
                <a:solidFill>
                  <a:srgbClr val="2B2B2B"/>
                </a:solidFill>
                <a:latin typeface="Arial" pitchFamily="34" charset="0"/>
                <a:ea typeface="Arial" pitchFamily="34" charset="-122"/>
                <a:cs typeface="Arial" pitchFamily="34" charset="-120"/>
              </a:rPr>
              <a:t>Historique des statuts (details_statuses) journalisant chaque transition.</a:t>
            </a:r>
            <a:endParaRPr lang="en-US" sz="1500" dirty="0"/>
          </a:p>
          <a:p>
            <a:pPr marL="228600" indent="-228600">
              <a:lnSpc>
                <a:spcPct val="105000"/>
              </a:lnSpc>
              <a:spcAft>
                <a:spcPts val="1100"/>
              </a:spcAft>
              <a:buSzPct val="100000"/>
              <a:buChar char="•"/>
            </a:pPr>
            <a:r>
              <a:rPr lang="en-US" sz="1500" dirty="0">
                <a:solidFill>
                  <a:srgbClr val="2B2B2B"/>
                </a:solidFill>
                <a:latin typeface="Arial" pitchFamily="34" charset="0"/>
                <a:ea typeface="Arial" pitchFamily="34" charset="-122"/>
                <a:cs typeface="Arial" pitchFamily="34" charset="-120"/>
              </a:rPr>
              <a:t>Suppression défensive : impossible de supprimer un plat déjà commandé ou une catégorie non vide.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B14A28"/>
          </a:solidFill>
          <a:ln/>
        </p:spPr>
      </p:sp>
      <p:sp>
        <p:nvSpPr>
          <p:cNvPr id="3" name="Shape 1"/>
          <p:cNvSpPr/>
          <p:nvPr/>
        </p:nvSpPr>
        <p:spPr>
          <a:xfrm>
            <a:off x="0" y="868680"/>
            <a:ext cx="9144000" cy="54864"/>
          </a:xfrm>
          <a:prstGeom prst="rect">
            <a:avLst/>
          </a:prstGeom>
          <a:solidFill>
            <a:srgbClr val="E8A33D"/>
          </a:solidFill>
          <a:ln/>
        </p:spPr>
      </p:sp>
      <p:sp>
        <p:nvSpPr>
          <p:cNvPr id="4" name="Text 2"/>
          <p:cNvSpPr/>
          <p:nvPr/>
        </p:nvSpPr>
        <p:spPr>
          <a:xfrm>
            <a:off x="365760" y="109728"/>
            <a:ext cx="8412480" cy="256032"/>
          </a:xfrm>
          <a:prstGeom prst="rect">
            <a:avLst/>
          </a:prstGeom>
          <a:noFill/>
          <a:ln/>
        </p:spPr>
        <p:txBody>
          <a:bodyPr wrap="square" rtlCol="0" anchor="ctr"/>
          <a:lstStyle/>
          <a:p>
            <a:pPr indent="0" marL="0">
              <a:buNone/>
            </a:pPr>
            <a:r>
              <a:rPr lang="en-US" sz="1100" b="1" spc="200" kern="0" dirty="0">
                <a:solidFill>
                  <a:srgbClr val="FFE2CC"/>
                </a:solidFill>
                <a:latin typeface="Arial" pitchFamily="34" charset="0"/>
                <a:ea typeface="Arial" pitchFamily="34" charset="-122"/>
                <a:cs typeface="Arial" pitchFamily="34" charset="-120"/>
              </a:rPr>
              <a:t>II. CAS 4 — PROBLÉMATIQUE</a:t>
            </a:r>
            <a:endParaRPr lang="en-US" sz="1100" dirty="0"/>
          </a:p>
        </p:txBody>
      </p:sp>
      <p:sp>
        <p:nvSpPr>
          <p:cNvPr id="5" name="Text 3"/>
          <p:cNvSpPr/>
          <p:nvPr/>
        </p:nvSpPr>
        <p:spPr>
          <a:xfrm>
            <a:off x="365760" y="329184"/>
            <a:ext cx="8412480" cy="50292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4️⃣  Servir un public international</a:t>
            </a:r>
            <a:endParaRPr lang="en-US" sz="2400" dirty="0"/>
          </a:p>
        </p:txBody>
      </p:sp>
      <p:sp>
        <p:nvSpPr>
          <p:cNvPr id="7" name="Shape 4"/>
          <p:cNvSpPr/>
          <p:nvPr/>
        </p:nvSpPr>
        <p:spPr>
          <a:xfrm>
            <a:off x="0" y="4901184"/>
            <a:ext cx="9144000" cy="242316"/>
          </a:xfrm>
          <a:prstGeom prst="rect">
            <a:avLst/>
          </a:prstGeom>
          <a:solidFill>
            <a:srgbClr val="FBF4EA"/>
          </a:solidFill>
          <a:ln/>
        </p:spPr>
      </p:sp>
      <p:sp>
        <p:nvSpPr>
          <p:cNvPr id="8" name="Text 5"/>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9" name="Text 6"/>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14</a:t>
            </a:r>
            <a:endParaRPr lang="en-US" sz="900" dirty="0"/>
          </a:p>
        </p:txBody>
      </p:sp>
      <p:sp>
        <p:nvSpPr>
          <p:cNvPr id="10" name="Shape 7"/>
          <p:cNvSpPr/>
          <p:nvPr/>
        </p:nvSpPr>
        <p:spPr>
          <a:xfrm>
            <a:off x="502920" y="1325880"/>
            <a:ext cx="1371600" cy="1371600"/>
          </a:xfrm>
          <a:prstGeom prst="roundRect">
            <a:avLst>
              <a:gd name="adj" fmla="val 6667"/>
            </a:avLst>
          </a:prstGeom>
          <a:solidFill>
            <a:srgbClr val="FBF4EA"/>
          </a:solidFill>
          <a:ln w="12700">
            <a:solidFill>
              <a:srgbClr val="B14A28"/>
            </a:solidFill>
            <a:prstDash val="solid"/>
          </a:ln>
        </p:spPr>
      </p:sp>
      <p:sp>
        <p:nvSpPr>
          <p:cNvPr id="11" name="Text 8"/>
          <p:cNvSpPr/>
          <p:nvPr/>
        </p:nvSpPr>
        <p:spPr>
          <a:xfrm>
            <a:off x="502920" y="1371600"/>
            <a:ext cx="1371600" cy="1280160"/>
          </a:xfrm>
          <a:prstGeom prst="rect">
            <a:avLst/>
          </a:prstGeom>
          <a:noFill/>
          <a:ln/>
        </p:spPr>
        <p:txBody>
          <a:bodyPr wrap="square" rtlCol="0" anchor="ctr"/>
          <a:lstStyle/>
          <a:p>
            <a:pPr algn="ctr" indent="0" marL="0">
              <a:buNone/>
            </a:pPr>
            <a:r>
              <a:rPr lang="en-US" sz="5400" dirty="0">
                <a:solidFill>
                  <a:srgbClr val="000000"/>
                </a:solidFill>
              </a:rPr>
              <a:t>❓</a:t>
            </a:r>
            <a:endParaRPr lang="en-US" sz="5400" dirty="0"/>
          </a:p>
        </p:txBody>
      </p:sp>
      <p:sp>
        <p:nvSpPr>
          <p:cNvPr id="12" name="Text 9"/>
          <p:cNvSpPr/>
          <p:nvPr/>
        </p:nvSpPr>
        <p:spPr>
          <a:xfrm>
            <a:off x="502920" y="2542032"/>
            <a:ext cx="1371600" cy="228600"/>
          </a:xfrm>
          <a:prstGeom prst="rect">
            <a:avLst/>
          </a:prstGeom>
          <a:noFill/>
          <a:ln/>
        </p:spPr>
        <p:txBody>
          <a:bodyPr wrap="square" rtlCol="0" anchor="ctr"/>
          <a:lstStyle/>
          <a:p>
            <a:pPr algn="ctr" indent="0" marL="0">
              <a:buNone/>
            </a:pPr>
            <a:r>
              <a:rPr lang="en-US" sz="900" b="1" spc="100" kern="0" dirty="0">
                <a:solidFill>
                  <a:srgbClr val="B14A28"/>
                </a:solidFill>
                <a:latin typeface="Arial" pitchFamily="34" charset="0"/>
                <a:ea typeface="Arial" pitchFamily="34" charset="-122"/>
                <a:cs typeface="Arial" pitchFamily="34" charset="-120"/>
              </a:rPr>
              <a:t>PROBLÉMATIQUE</a:t>
            </a:r>
            <a:endParaRPr lang="en-US" sz="900" dirty="0"/>
          </a:p>
        </p:txBody>
      </p:sp>
      <p:sp>
        <p:nvSpPr>
          <p:cNvPr id="13" name="Text 10"/>
          <p:cNvSpPr/>
          <p:nvPr/>
        </p:nvSpPr>
        <p:spPr>
          <a:xfrm>
            <a:off x="2194560" y="1554480"/>
            <a:ext cx="6492240" cy="2926080"/>
          </a:xfrm>
          <a:prstGeom prst="rect">
            <a:avLst/>
          </a:prstGeom>
          <a:noFill/>
          <a:ln/>
        </p:spPr>
        <p:txBody>
          <a:bodyPr wrap="square" rtlCol="0" anchor="t"/>
          <a:lstStyle/>
          <a:p>
            <a:pPr marL="228600" indent="-228600">
              <a:lnSpc>
                <a:spcPct val="105000"/>
              </a:lnSpc>
              <a:spcAft>
                <a:spcPts val="1400"/>
              </a:spcAft>
              <a:buSzPct val="100000"/>
              <a:buChar char="•"/>
            </a:pPr>
            <a:r>
              <a:rPr lang="en-US" sz="1700" dirty="0">
                <a:solidFill>
                  <a:srgbClr val="2B2B2B"/>
                </a:solidFill>
                <a:latin typeface="Arial" pitchFamily="34" charset="0"/>
                <a:ea typeface="Arial" pitchFamily="34" charset="-122"/>
                <a:cs typeface="Arial" pitchFamily="34" charset="-120"/>
              </a:rPr>
              <a:t>L'interface doit être disponible en plusieurs langues.</a:t>
            </a:r>
            <a:endParaRPr lang="en-US" sz="1700" dirty="0"/>
          </a:p>
          <a:p>
            <a:pPr marL="228600" indent="-228600">
              <a:lnSpc>
                <a:spcPct val="105000"/>
              </a:lnSpc>
              <a:spcAft>
                <a:spcPts val="1400"/>
              </a:spcAft>
              <a:buSzPct val="100000"/>
              <a:buChar char="•"/>
            </a:pPr>
            <a:r>
              <a:rPr lang="en-US" sz="1700" dirty="0">
                <a:solidFill>
                  <a:srgbClr val="2B2B2B"/>
                </a:solidFill>
                <a:latin typeface="Arial" pitchFamily="34" charset="0"/>
                <a:ea typeface="Arial" pitchFamily="34" charset="-122"/>
                <a:cs typeface="Arial" pitchFamily="34" charset="-120"/>
              </a:rPr>
              <a:t>Dont l'arabe, écrit de droite à gauche (RTL), avec des contraintes d'affichage spécifiques.</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4E7D3A"/>
          </a:solidFill>
          <a:ln/>
        </p:spPr>
      </p:sp>
      <p:sp>
        <p:nvSpPr>
          <p:cNvPr id="3" name="Shape 1"/>
          <p:cNvSpPr/>
          <p:nvPr/>
        </p:nvSpPr>
        <p:spPr>
          <a:xfrm>
            <a:off x="0" y="868680"/>
            <a:ext cx="9144000" cy="54864"/>
          </a:xfrm>
          <a:prstGeom prst="rect">
            <a:avLst/>
          </a:prstGeom>
          <a:solidFill>
            <a:srgbClr val="E8A33D"/>
          </a:solidFill>
          <a:ln/>
        </p:spPr>
      </p:sp>
      <p:sp>
        <p:nvSpPr>
          <p:cNvPr id="4" name="Text 2"/>
          <p:cNvSpPr/>
          <p:nvPr/>
        </p:nvSpPr>
        <p:spPr>
          <a:xfrm>
            <a:off x="365760" y="109728"/>
            <a:ext cx="8412480" cy="256032"/>
          </a:xfrm>
          <a:prstGeom prst="rect">
            <a:avLst/>
          </a:prstGeom>
          <a:noFill/>
          <a:ln/>
        </p:spPr>
        <p:txBody>
          <a:bodyPr wrap="square" rtlCol="0" anchor="ctr"/>
          <a:lstStyle/>
          <a:p>
            <a:pPr indent="0" marL="0">
              <a:buNone/>
            </a:pPr>
            <a:r>
              <a:rPr lang="en-US" sz="1100" b="1" spc="200" kern="0" dirty="0">
                <a:solidFill>
                  <a:srgbClr val="FFE2CC"/>
                </a:solidFill>
                <a:latin typeface="Arial" pitchFamily="34" charset="0"/>
                <a:ea typeface="Arial" pitchFamily="34" charset="-122"/>
                <a:cs typeface="Arial" pitchFamily="34" charset="-120"/>
              </a:rPr>
              <a:t>II. CAS 4 — SOLUTION</a:t>
            </a:r>
            <a:endParaRPr lang="en-US" sz="1100" dirty="0"/>
          </a:p>
        </p:txBody>
      </p:sp>
      <p:sp>
        <p:nvSpPr>
          <p:cNvPr id="5" name="Text 3"/>
          <p:cNvSpPr/>
          <p:nvPr/>
        </p:nvSpPr>
        <p:spPr>
          <a:xfrm>
            <a:off x="365760" y="329184"/>
            <a:ext cx="8412480" cy="50292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4️⃣  Internationalisation FR / EN / AR (RTL)</a:t>
            </a:r>
            <a:endParaRPr lang="en-US" sz="2400" dirty="0"/>
          </a:p>
        </p:txBody>
      </p:sp>
      <p:sp>
        <p:nvSpPr>
          <p:cNvPr id="7" name="Shape 4"/>
          <p:cNvSpPr/>
          <p:nvPr/>
        </p:nvSpPr>
        <p:spPr>
          <a:xfrm>
            <a:off x="0" y="4901184"/>
            <a:ext cx="9144000" cy="242316"/>
          </a:xfrm>
          <a:prstGeom prst="rect">
            <a:avLst/>
          </a:prstGeom>
          <a:solidFill>
            <a:srgbClr val="FBF4EA"/>
          </a:solidFill>
          <a:ln/>
        </p:spPr>
      </p:sp>
      <p:sp>
        <p:nvSpPr>
          <p:cNvPr id="8" name="Text 5"/>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9" name="Text 6"/>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15</a:t>
            </a:r>
            <a:endParaRPr lang="en-US" sz="900" dirty="0"/>
          </a:p>
        </p:txBody>
      </p:sp>
      <p:sp>
        <p:nvSpPr>
          <p:cNvPr id="10" name="Shape 7"/>
          <p:cNvSpPr/>
          <p:nvPr/>
        </p:nvSpPr>
        <p:spPr>
          <a:xfrm>
            <a:off x="502920" y="1325880"/>
            <a:ext cx="1371600" cy="1371600"/>
          </a:xfrm>
          <a:prstGeom prst="roundRect">
            <a:avLst>
              <a:gd name="adj" fmla="val 6667"/>
            </a:avLst>
          </a:prstGeom>
          <a:solidFill>
            <a:srgbClr val="EAF1E4"/>
          </a:solidFill>
          <a:ln w="12700">
            <a:solidFill>
              <a:srgbClr val="4E7D3A"/>
            </a:solidFill>
            <a:prstDash val="solid"/>
          </a:ln>
        </p:spPr>
      </p:sp>
      <p:sp>
        <p:nvSpPr>
          <p:cNvPr id="11" name="Text 8"/>
          <p:cNvSpPr/>
          <p:nvPr/>
        </p:nvSpPr>
        <p:spPr>
          <a:xfrm>
            <a:off x="502920" y="1371600"/>
            <a:ext cx="1371600" cy="1280160"/>
          </a:xfrm>
          <a:prstGeom prst="rect">
            <a:avLst/>
          </a:prstGeom>
          <a:noFill/>
          <a:ln/>
        </p:spPr>
        <p:txBody>
          <a:bodyPr wrap="square" rtlCol="0" anchor="ctr"/>
          <a:lstStyle/>
          <a:p>
            <a:pPr algn="ctr" indent="0" marL="0">
              <a:buNone/>
            </a:pPr>
            <a:r>
              <a:rPr lang="en-US" sz="5400" dirty="0">
                <a:solidFill>
                  <a:srgbClr val="000000"/>
                </a:solidFill>
              </a:rPr>
              <a:t>✅</a:t>
            </a:r>
            <a:endParaRPr lang="en-US" sz="5400" dirty="0"/>
          </a:p>
        </p:txBody>
      </p:sp>
      <p:sp>
        <p:nvSpPr>
          <p:cNvPr id="12" name="Text 9"/>
          <p:cNvSpPr/>
          <p:nvPr/>
        </p:nvSpPr>
        <p:spPr>
          <a:xfrm>
            <a:off x="502920" y="2542032"/>
            <a:ext cx="1371600" cy="228600"/>
          </a:xfrm>
          <a:prstGeom prst="rect">
            <a:avLst/>
          </a:prstGeom>
          <a:noFill/>
          <a:ln/>
        </p:spPr>
        <p:txBody>
          <a:bodyPr wrap="square" rtlCol="0" anchor="ctr"/>
          <a:lstStyle/>
          <a:p>
            <a:pPr algn="ctr" indent="0" marL="0">
              <a:buNone/>
            </a:pPr>
            <a:r>
              <a:rPr lang="en-US" sz="900" b="1" spc="100" kern="0" dirty="0">
                <a:solidFill>
                  <a:srgbClr val="4E7D3A"/>
                </a:solidFill>
                <a:latin typeface="Arial" pitchFamily="34" charset="0"/>
                <a:ea typeface="Arial" pitchFamily="34" charset="-122"/>
                <a:cs typeface="Arial" pitchFamily="34" charset="-120"/>
              </a:rPr>
              <a:t>SOLUTION</a:t>
            </a:r>
            <a:endParaRPr lang="en-US" sz="900" dirty="0"/>
          </a:p>
        </p:txBody>
      </p:sp>
      <p:sp>
        <p:nvSpPr>
          <p:cNvPr id="13" name="Text 10"/>
          <p:cNvSpPr/>
          <p:nvPr/>
        </p:nvSpPr>
        <p:spPr>
          <a:xfrm>
            <a:off x="2194560" y="1417320"/>
            <a:ext cx="6492240" cy="3200400"/>
          </a:xfrm>
          <a:prstGeom prst="rect">
            <a:avLst/>
          </a:prstGeom>
          <a:noFill/>
          <a:ln/>
        </p:spPr>
        <p:txBody>
          <a:bodyPr wrap="square" rtlCol="0" anchor="t"/>
          <a:lstStyle/>
          <a:p>
            <a:pPr marL="228600" indent="-228600">
              <a:lnSpc>
                <a:spcPct val="105000"/>
              </a:lnSpc>
              <a:spcAft>
                <a:spcPts val="1100"/>
              </a:spcAft>
              <a:buSzPct val="100000"/>
              <a:buChar char="•"/>
            </a:pPr>
            <a:r>
              <a:rPr lang="en-US" sz="1500" dirty="0">
                <a:solidFill>
                  <a:srgbClr val="2B2B2B"/>
                </a:solidFill>
                <a:latin typeface="Arial" pitchFamily="34" charset="0"/>
                <a:ea typeface="Arial" pitchFamily="34" charset="-122"/>
                <a:cs typeface="Arial" pitchFamily="34" charset="-120"/>
              </a:rPr>
              <a:t>Traductions JSON de Laravel (__()) avec le français comme clé : maintenance minimale.</a:t>
            </a:r>
            <a:endParaRPr lang="en-US" sz="1500" dirty="0"/>
          </a:p>
          <a:p>
            <a:pPr marL="228600" indent="-228600">
              <a:lnSpc>
                <a:spcPct val="105000"/>
              </a:lnSpc>
              <a:spcAft>
                <a:spcPts val="1100"/>
              </a:spcAft>
              <a:buSzPct val="100000"/>
              <a:buChar char="•"/>
            </a:pPr>
            <a:r>
              <a:rPr lang="en-US" sz="1500" dirty="0">
                <a:solidFill>
                  <a:srgbClr val="2B2B2B"/>
                </a:solidFill>
                <a:latin typeface="Arial" pitchFamily="34" charset="0"/>
                <a:ea typeface="Arial" pitchFamily="34" charset="-122"/>
                <a:cs typeface="Arial" pitchFamily="34" charset="-120"/>
              </a:rPr>
              <a:t>Support RTL complet pour l'arabe (dir="rtl" + ajustements CSS dédiés).</a:t>
            </a:r>
            <a:endParaRPr lang="en-US" sz="1500" dirty="0"/>
          </a:p>
          <a:p>
            <a:pPr marL="228600" indent="-228600">
              <a:lnSpc>
                <a:spcPct val="105000"/>
              </a:lnSpc>
              <a:spcAft>
                <a:spcPts val="1100"/>
              </a:spcAft>
              <a:buSzPct val="100000"/>
              <a:buChar char="•"/>
            </a:pPr>
            <a:r>
              <a:rPr lang="en-US" sz="1500" dirty="0">
                <a:solidFill>
                  <a:srgbClr val="2B2B2B"/>
                </a:solidFill>
                <a:latin typeface="Arial" pitchFamily="34" charset="0"/>
                <a:ea typeface="Arial" pitchFamily="34" charset="-122"/>
                <a:cs typeface="Arial" pitchFamily="34" charset="-120"/>
              </a:rPr>
              <a:t>Middleware SetLocale : langue mémorisée en session et dates localisées (Carbon).</a:t>
            </a:r>
            <a:endParaRPr lang="en-US" sz="1500" dirty="0"/>
          </a:p>
          <a:p>
            <a:pPr marL="228600" indent="-228600">
              <a:lnSpc>
                <a:spcPct val="105000"/>
              </a:lnSpc>
              <a:spcAft>
                <a:spcPts val="1100"/>
              </a:spcAft>
              <a:buSzPct val="100000"/>
              <a:buChar char="•"/>
            </a:pPr>
            <a:r>
              <a:rPr lang="en-US" sz="1500" dirty="0">
                <a:solidFill>
                  <a:srgbClr val="2B2B2B"/>
                </a:solidFill>
                <a:latin typeface="Arial" pitchFamily="34" charset="0"/>
                <a:ea typeface="Arial" pitchFamily="34" charset="-122"/>
                <a:cs typeface="Arial" pitchFamily="34" charset="-120"/>
              </a:rPr>
              <a:t>Sélecteur FR · EN · AR présent partout, messages de validation localisés.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B14A28"/>
        </a:solidFill>
      </p:bgPr>
    </p:bg>
    <p:spTree>
      <p:nvGrpSpPr>
        <p:cNvPr id="1" name=""/>
        <p:cNvGrpSpPr/>
        <p:nvPr/>
      </p:nvGrpSpPr>
      <p:grpSpPr>
        <a:xfrm>
          <a:off x="0" y="0"/>
          <a:ext cx="0" cy="0"/>
          <a:chOff x="0" y="0"/>
          <a:chExt cx="0" cy="0"/>
        </a:xfrm>
      </p:grpSpPr>
      <p:sp>
        <p:nvSpPr>
          <p:cNvPr id="2" name="Shape 0"/>
          <p:cNvSpPr/>
          <p:nvPr/>
        </p:nvSpPr>
        <p:spPr>
          <a:xfrm>
            <a:off x="0" y="2148840"/>
            <a:ext cx="9144000" cy="54864"/>
          </a:xfrm>
          <a:prstGeom prst="rect">
            <a:avLst/>
          </a:prstGeom>
          <a:solidFill>
            <a:srgbClr val="E8A33D"/>
          </a:solidFill>
          <a:ln/>
        </p:spPr>
      </p:sp>
      <p:sp>
        <p:nvSpPr>
          <p:cNvPr id="3" name="Text 1"/>
          <p:cNvSpPr/>
          <p:nvPr/>
        </p:nvSpPr>
        <p:spPr>
          <a:xfrm>
            <a:off x="548640" y="1371600"/>
            <a:ext cx="2011680" cy="1463040"/>
          </a:xfrm>
          <a:prstGeom prst="rect">
            <a:avLst/>
          </a:prstGeom>
          <a:noFill/>
          <a:ln/>
        </p:spPr>
        <p:txBody>
          <a:bodyPr wrap="square" rtlCol="0" anchor="ctr"/>
          <a:lstStyle/>
          <a:p>
            <a:pPr algn="ctr" indent="0" marL="0">
              <a:buNone/>
            </a:pPr>
            <a:r>
              <a:rPr lang="en-US" sz="9600" b="1" dirty="0">
                <a:solidFill>
                  <a:srgbClr val="D98A63"/>
                </a:solidFill>
                <a:latin typeface="Arial" pitchFamily="34" charset="0"/>
                <a:ea typeface="Arial" pitchFamily="34" charset="-122"/>
                <a:cs typeface="Arial" pitchFamily="34" charset="-120"/>
              </a:rPr>
              <a:t>III</a:t>
            </a:r>
            <a:endParaRPr lang="en-US" sz="9600" dirty="0"/>
          </a:p>
        </p:txBody>
      </p:sp>
      <p:sp>
        <p:nvSpPr>
          <p:cNvPr id="4" name="Text 2"/>
          <p:cNvSpPr/>
          <p:nvPr/>
        </p:nvSpPr>
        <p:spPr>
          <a:xfrm>
            <a:off x="2651760" y="2194560"/>
            <a:ext cx="6035040" cy="128016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Présentation de</a:t>
            </a:r>
            <a:endParaRPr lang="en-US" sz="3200" dirty="0"/>
          </a:p>
          <a:p>
            <a:pPr indent="0" marL="0">
              <a:buNone/>
            </a:pPr>
            <a:r>
              <a:rPr lang="en-US" sz="3200" b="1" dirty="0">
                <a:solidFill>
                  <a:srgbClr val="FFFFFF"/>
                </a:solidFill>
                <a:latin typeface="Arial" pitchFamily="34" charset="0"/>
                <a:ea typeface="Arial" pitchFamily="34" charset="-122"/>
                <a:cs typeface="Arial" pitchFamily="34" charset="-120"/>
              </a:rPr>
              <a:t>l'application</a:t>
            </a:r>
            <a:endParaRPr lang="en-US" sz="3200" dirty="0"/>
          </a:p>
        </p:txBody>
      </p:sp>
      <p:sp>
        <p:nvSpPr>
          <p:cNvPr id="6" name="Shape 3"/>
          <p:cNvSpPr/>
          <p:nvPr/>
        </p:nvSpPr>
        <p:spPr>
          <a:xfrm>
            <a:off x="0" y="4901184"/>
            <a:ext cx="9144000" cy="242316"/>
          </a:xfrm>
          <a:prstGeom prst="rect">
            <a:avLst/>
          </a:prstGeom>
          <a:solidFill>
            <a:srgbClr val="FBF4EA"/>
          </a:solidFill>
          <a:ln/>
        </p:spPr>
      </p:sp>
      <p:sp>
        <p:nvSpPr>
          <p:cNvPr id="7" name="Text 4"/>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8" name="Text 5"/>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B14A28"/>
          </a:solidFill>
          <a:ln/>
        </p:spPr>
      </p:sp>
      <p:sp>
        <p:nvSpPr>
          <p:cNvPr id="3" name="Shape 1"/>
          <p:cNvSpPr/>
          <p:nvPr/>
        </p:nvSpPr>
        <p:spPr>
          <a:xfrm>
            <a:off x="0" y="868680"/>
            <a:ext cx="9144000" cy="54864"/>
          </a:xfrm>
          <a:prstGeom prst="rect">
            <a:avLst/>
          </a:prstGeom>
          <a:solidFill>
            <a:srgbClr val="E8A33D"/>
          </a:solidFill>
          <a:ln/>
        </p:spPr>
      </p:sp>
      <p:sp>
        <p:nvSpPr>
          <p:cNvPr id="4" name="Text 2"/>
          <p:cNvSpPr/>
          <p:nvPr/>
        </p:nvSpPr>
        <p:spPr>
          <a:xfrm>
            <a:off x="365760" y="109728"/>
            <a:ext cx="8412480" cy="256032"/>
          </a:xfrm>
          <a:prstGeom prst="rect">
            <a:avLst/>
          </a:prstGeom>
          <a:noFill/>
          <a:ln/>
        </p:spPr>
        <p:txBody>
          <a:bodyPr wrap="square" rtlCol="0" anchor="ctr"/>
          <a:lstStyle/>
          <a:p>
            <a:pPr indent="0" marL="0">
              <a:buNone/>
            </a:pPr>
            <a:r>
              <a:rPr lang="en-US" sz="1100" b="1" spc="200" kern="0" dirty="0">
                <a:solidFill>
                  <a:srgbClr val="FFE2CC"/>
                </a:solidFill>
                <a:latin typeface="Arial" pitchFamily="34" charset="0"/>
                <a:ea typeface="Arial" pitchFamily="34" charset="-122"/>
                <a:cs typeface="Arial" pitchFamily="34" charset="-120"/>
              </a:rPr>
              <a:t>III. PRÉSENTATION DE L'APPLICATION</a:t>
            </a:r>
            <a:endParaRPr lang="en-US" sz="1100" dirty="0"/>
          </a:p>
        </p:txBody>
      </p:sp>
      <p:sp>
        <p:nvSpPr>
          <p:cNvPr id="5" name="Text 3"/>
          <p:cNvSpPr/>
          <p:nvPr/>
        </p:nvSpPr>
        <p:spPr>
          <a:xfrm>
            <a:off x="365760" y="329184"/>
            <a:ext cx="8412480" cy="50292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Une application, deux espaces</a:t>
            </a:r>
            <a:endParaRPr lang="en-US" sz="2400" dirty="0"/>
          </a:p>
        </p:txBody>
      </p:sp>
      <p:sp>
        <p:nvSpPr>
          <p:cNvPr id="7" name="Shape 4"/>
          <p:cNvSpPr/>
          <p:nvPr/>
        </p:nvSpPr>
        <p:spPr>
          <a:xfrm>
            <a:off x="0" y="4901184"/>
            <a:ext cx="9144000" cy="242316"/>
          </a:xfrm>
          <a:prstGeom prst="rect">
            <a:avLst/>
          </a:prstGeom>
          <a:solidFill>
            <a:srgbClr val="FBF4EA"/>
          </a:solidFill>
          <a:ln/>
        </p:spPr>
      </p:sp>
      <p:sp>
        <p:nvSpPr>
          <p:cNvPr id="8" name="Text 5"/>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9" name="Text 6"/>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17</a:t>
            </a:r>
            <a:endParaRPr lang="en-US" sz="900" dirty="0"/>
          </a:p>
        </p:txBody>
      </p:sp>
      <p:sp>
        <p:nvSpPr>
          <p:cNvPr id="10" name="Text 7"/>
          <p:cNvSpPr/>
          <p:nvPr/>
        </p:nvSpPr>
        <p:spPr>
          <a:xfrm>
            <a:off x="502920" y="1143000"/>
            <a:ext cx="8138160" cy="457200"/>
          </a:xfrm>
          <a:prstGeom prst="rect">
            <a:avLst/>
          </a:prstGeom>
          <a:noFill/>
          <a:ln/>
        </p:spPr>
        <p:txBody>
          <a:bodyPr wrap="square" rtlCol="0" anchor="ctr"/>
          <a:lstStyle/>
          <a:p>
            <a:pPr indent="0" marL="0">
              <a:buNone/>
            </a:pPr>
            <a:r>
              <a:rPr lang="en-US" sz="1500" i="1" dirty="0">
                <a:solidFill>
                  <a:srgbClr val="6B6B6B"/>
                </a:solidFill>
                <a:latin typeface="Arial" pitchFamily="34" charset="0"/>
                <a:ea typeface="Arial" pitchFamily="34" charset="-122"/>
                <a:cs typeface="Arial" pitchFamily="34" charset="-120"/>
              </a:rPr>
              <a:t>L'application se compose de deux espaces complémentaires, séparés et avec des accès distincts.</a:t>
            </a:r>
            <a:endParaRPr lang="en-US" sz="1500" dirty="0"/>
          </a:p>
        </p:txBody>
      </p:sp>
      <p:sp>
        <p:nvSpPr>
          <p:cNvPr id="11" name="Shape 8"/>
          <p:cNvSpPr/>
          <p:nvPr/>
        </p:nvSpPr>
        <p:spPr>
          <a:xfrm>
            <a:off x="502920" y="1737360"/>
            <a:ext cx="3977640" cy="2743200"/>
          </a:xfrm>
          <a:prstGeom prst="roundRect">
            <a:avLst>
              <a:gd name="adj" fmla="val 2000"/>
            </a:avLst>
          </a:prstGeom>
          <a:solidFill>
            <a:srgbClr val="FBF4EA"/>
          </a:solidFill>
          <a:ln w="15875">
            <a:solidFill>
              <a:srgbClr val="B14A28"/>
            </a:solidFill>
            <a:prstDash val="solid"/>
          </a:ln>
        </p:spPr>
      </p:sp>
      <p:sp>
        <p:nvSpPr>
          <p:cNvPr id="12" name="Shape 9"/>
          <p:cNvSpPr/>
          <p:nvPr/>
        </p:nvSpPr>
        <p:spPr>
          <a:xfrm>
            <a:off x="502920" y="1737360"/>
            <a:ext cx="3977640" cy="109728"/>
          </a:xfrm>
          <a:prstGeom prst="rect">
            <a:avLst/>
          </a:prstGeom>
          <a:solidFill>
            <a:srgbClr val="B14A28"/>
          </a:solidFill>
          <a:ln/>
        </p:spPr>
      </p:sp>
      <p:sp>
        <p:nvSpPr>
          <p:cNvPr id="13" name="Text 10"/>
          <p:cNvSpPr/>
          <p:nvPr/>
        </p:nvSpPr>
        <p:spPr>
          <a:xfrm>
            <a:off x="685800" y="1965960"/>
            <a:ext cx="3611880" cy="502920"/>
          </a:xfrm>
          <a:prstGeom prst="rect">
            <a:avLst/>
          </a:prstGeom>
          <a:noFill/>
          <a:ln/>
        </p:spPr>
        <p:txBody>
          <a:bodyPr wrap="square" rtlCol="0" anchor="ctr"/>
          <a:lstStyle/>
          <a:p>
            <a:pPr indent="0" marL="0">
              <a:buNone/>
            </a:pPr>
            <a:r>
              <a:rPr lang="en-US" sz="1500" b="1" dirty="0">
                <a:solidFill>
                  <a:srgbClr val="B14A28"/>
                </a:solidFill>
                <a:latin typeface="Arial" pitchFamily="34" charset="0"/>
                <a:ea typeface="Arial" pitchFamily="34" charset="-122"/>
                <a:cs typeface="Arial" pitchFamily="34" charset="-120"/>
              </a:rPr>
              <a:t>🍽  Espace client (front-office)</a:t>
            </a:r>
            <a:endParaRPr lang="en-US" sz="1500" dirty="0"/>
          </a:p>
        </p:txBody>
      </p:sp>
      <p:sp>
        <p:nvSpPr>
          <p:cNvPr id="14" name="Text 11"/>
          <p:cNvSpPr/>
          <p:nvPr/>
        </p:nvSpPr>
        <p:spPr>
          <a:xfrm>
            <a:off x="685800" y="2514600"/>
            <a:ext cx="3611880" cy="1828800"/>
          </a:xfrm>
          <a:prstGeom prst="rect">
            <a:avLst/>
          </a:prstGeom>
          <a:noFill/>
          <a:ln/>
        </p:spPr>
        <p:txBody>
          <a:bodyPr wrap="square" rtlCol="0" anchor="t"/>
          <a:lstStyle/>
          <a:p>
            <a:pPr indent="0" marL="0">
              <a:buNone/>
            </a:pPr>
            <a:r>
              <a:rPr lang="en-US" sz="1300" dirty="0">
                <a:solidFill>
                  <a:srgbClr val="2B2B2B"/>
                </a:solidFill>
                <a:latin typeface="Arial" pitchFamily="34" charset="0"/>
                <a:ea typeface="Arial" pitchFamily="34" charset="-122"/>
                <a:cs typeface="Arial" pitchFamily="34" charset="-120"/>
              </a:rPr>
              <a:t>Vitrine gastronomique : parcourir la carte par catégories, consulter le détail d'un plat (ingrédients, temps, prix), remplir un panier, commander et suivre l'avancement — sans inscription.</a:t>
            </a:r>
            <a:endParaRPr lang="en-US" sz="1300" dirty="0"/>
          </a:p>
        </p:txBody>
      </p:sp>
      <p:sp>
        <p:nvSpPr>
          <p:cNvPr id="15" name="Shape 12"/>
          <p:cNvSpPr/>
          <p:nvPr/>
        </p:nvSpPr>
        <p:spPr>
          <a:xfrm>
            <a:off x="4663440" y="1737360"/>
            <a:ext cx="3977640" cy="2743200"/>
          </a:xfrm>
          <a:prstGeom prst="roundRect">
            <a:avLst>
              <a:gd name="adj" fmla="val 2000"/>
            </a:avLst>
          </a:prstGeom>
          <a:solidFill>
            <a:srgbClr val="FBF4EA"/>
          </a:solidFill>
          <a:ln w="15875">
            <a:solidFill>
              <a:srgbClr val="C8852A"/>
            </a:solidFill>
            <a:prstDash val="solid"/>
          </a:ln>
        </p:spPr>
      </p:sp>
      <p:sp>
        <p:nvSpPr>
          <p:cNvPr id="16" name="Shape 13"/>
          <p:cNvSpPr/>
          <p:nvPr/>
        </p:nvSpPr>
        <p:spPr>
          <a:xfrm>
            <a:off x="4663440" y="1737360"/>
            <a:ext cx="3977640" cy="109728"/>
          </a:xfrm>
          <a:prstGeom prst="rect">
            <a:avLst/>
          </a:prstGeom>
          <a:solidFill>
            <a:srgbClr val="C8852A"/>
          </a:solidFill>
          <a:ln/>
        </p:spPr>
      </p:sp>
      <p:sp>
        <p:nvSpPr>
          <p:cNvPr id="17" name="Text 14"/>
          <p:cNvSpPr/>
          <p:nvPr/>
        </p:nvSpPr>
        <p:spPr>
          <a:xfrm>
            <a:off x="4846320" y="1965960"/>
            <a:ext cx="3611880" cy="502920"/>
          </a:xfrm>
          <a:prstGeom prst="rect">
            <a:avLst/>
          </a:prstGeom>
          <a:noFill/>
          <a:ln/>
        </p:spPr>
        <p:txBody>
          <a:bodyPr wrap="square" rtlCol="0" anchor="ctr"/>
          <a:lstStyle/>
          <a:p>
            <a:pPr indent="0" marL="0">
              <a:buNone/>
            </a:pPr>
            <a:r>
              <a:rPr lang="en-US" sz="1500" b="1" dirty="0">
                <a:solidFill>
                  <a:srgbClr val="C8852A"/>
                </a:solidFill>
                <a:latin typeface="Arial" pitchFamily="34" charset="0"/>
                <a:ea typeface="Arial" pitchFamily="34" charset="-122"/>
                <a:cs typeface="Arial" pitchFamily="34" charset="-120"/>
              </a:rPr>
              <a:t>🔐  Espace gérant (back-office)</a:t>
            </a:r>
            <a:endParaRPr lang="en-US" sz="1500" dirty="0"/>
          </a:p>
        </p:txBody>
      </p:sp>
      <p:sp>
        <p:nvSpPr>
          <p:cNvPr id="18" name="Text 15"/>
          <p:cNvSpPr/>
          <p:nvPr/>
        </p:nvSpPr>
        <p:spPr>
          <a:xfrm>
            <a:off x="4846320" y="2514600"/>
            <a:ext cx="3611880" cy="1828800"/>
          </a:xfrm>
          <a:prstGeom prst="rect">
            <a:avLst/>
          </a:prstGeom>
          <a:noFill/>
          <a:ln/>
        </p:spPr>
        <p:txBody>
          <a:bodyPr wrap="square" rtlCol="0" anchor="t"/>
          <a:lstStyle/>
          <a:p>
            <a:pPr indent="0" marL="0">
              <a:buNone/>
            </a:pPr>
            <a:r>
              <a:rPr lang="en-US" sz="1300" dirty="0">
                <a:solidFill>
                  <a:srgbClr val="2B2B2B"/>
                </a:solidFill>
                <a:latin typeface="Arial" pitchFamily="34" charset="0"/>
                <a:ea typeface="Arial" pitchFamily="34" charset="-122"/>
                <a:cs typeface="Arial" pitchFamily="34" charset="-120"/>
              </a:rPr>
              <a:t>Tableau de bord protégé par authentification : gestion de la carte, des catégories, des clients, des commandes et de l'équipe, avec des indicateurs d'activité en temps réel.</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B14A28"/>
          </a:solidFill>
          <a:ln/>
        </p:spPr>
      </p:sp>
      <p:sp>
        <p:nvSpPr>
          <p:cNvPr id="3" name="Shape 1"/>
          <p:cNvSpPr/>
          <p:nvPr/>
        </p:nvSpPr>
        <p:spPr>
          <a:xfrm>
            <a:off x="0" y="868680"/>
            <a:ext cx="9144000" cy="54864"/>
          </a:xfrm>
          <a:prstGeom prst="rect">
            <a:avLst/>
          </a:prstGeom>
          <a:solidFill>
            <a:srgbClr val="E8A33D"/>
          </a:solidFill>
          <a:ln/>
        </p:spPr>
      </p:sp>
      <p:sp>
        <p:nvSpPr>
          <p:cNvPr id="4" name="Text 2"/>
          <p:cNvSpPr/>
          <p:nvPr/>
        </p:nvSpPr>
        <p:spPr>
          <a:xfrm>
            <a:off x="365760" y="109728"/>
            <a:ext cx="8412480" cy="256032"/>
          </a:xfrm>
          <a:prstGeom prst="rect">
            <a:avLst/>
          </a:prstGeom>
          <a:noFill/>
          <a:ln/>
        </p:spPr>
        <p:txBody>
          <a:bodyPr wrap="square" rtlCol="0" anchor="ctr"/>
          <a:lstStyle/>
          <a:p>
            <a:pPr indent="0" marL="0">
              <a:buNone/>
            </a:pPr>
            <a:r>
              <a:rPr lang="en-US" sz="1100" b="1" spc="200" kern="0" dirty="0">
                <a:solidFill>
                  <a:srgbClr val="FFE2CC"/>
                </a:solidFill>
                <a:latin typeface="Arial" pitchFamily="34" charset="0"/>
                <a:ea typeface="Arial" pitchFamily="34" charset="-122"/>
                <a:cs typeface="Arial" pitchFamily="34" charset="-120"/>
              </a:rPr>
              <a:t>III. PRÉSENTATION DE L'APPLICATION</a:t>
            </a:r>
            <a:endParaRPr lang="en-US" sz="1100" dirty="0"/>
          </a:p>
        </p:txBody>
      </p:sp>
      <p:sp>
        <p:nvSpPr>
          <p:cNvPr id="5" name="Text 3"/>
          <p:cNvSpPr/>
          <p:nvPr/>
        </p:nvSpPr>
        <p:spPr>
          <a:xfrm>
            <a:off x="365760" y="329184"/>
            <a:ext cx="8412480" cy="50292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Espace client : un parcours en 4 étapes</a:t>
            </a:r>
            <a:endParaRPr lang="en-US" sz="2400" dirty="0"/>
          </a:p>
        </p:txBody>
      </p:sp>
      <p:sp>
        <p:nvSpPr>
          <p:cNvPr id="7" name="Shape 4"/>
          <p:cNvSpPr/>
          <p:nvPr/>
        </p:nvSpPr>
        <p:spPr>
          <a:xfrm>
            <a:off x="0" y="4901184"/>
            <a:ext cx="9144000" cy="242316"/>
          </a:xfrm>
          <a:prstGeom prst="rect">
            <a:avLst/>
          </a:prstGeom>
          <a:solidFill>
            <a:srgbClr val="FBF4EA"/>
          </a:solidFill>
          <a:ln/>
        </p:spPr>
      </p:sp>
      <p:sp>
        <p:nvSpPr>
          <p:cNvPr id="8" name="Text 5"/>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9" name="Text 6"/>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18</a:t>
            </a:r>
            <a:endParaRPr lang="en-US" sz="900" dirty="0"/>
          </a:p>
        </p:txBody>
      </p:sp>
      <p:sp>
        <p:nvSpPr>
          <p:cNvPr id="10" name="Shape 7"/>
          <p:cNvSpPr/>
          <p:nvPr/>
        </p:nvSpPr>
        <p:spPr>
          <a:xfrm>
            <a:off x="502920" y="1417320"/>
            <a:ext cx="1874520" cy="2926080"/>
          </a:xfrm>
          <a:prstGeom prst="roundRect">
            <a:avLst>
              <a:gd name="adj" fmla="val 2927"/>
            </a:avLst>
          </a:prstGeom>
          <a:solidFill>
            <a:srgbClr val="FBF4EA"/>
          </a:solidFill>
          <a:ln w="12700">
            <a:solidFill>
              <a:srgbClr val="EADBC4"/>
            </a:solidFill>
            <a:prstDash val="solid"/>
          </a:ln>
        </p:spPr>
      </p:sp>
      <p:sp>
        <p:nvSpPr>
          <p:cNvPr id="11" name="Shape 8"/>
          <p:cNvSpPr/>
          <p:nvPr/>
        </p:nvSpPr>
        <p:spPr>
          <a:xfrm>
            <a:off x="1161288" y="1627632"/>
            <a:ext cx="566928" cy="566928"/>
          </a:xfrm>
          <a:prstGeom prst="ellipse">
            <a:avLst/>
          </a:prstGeom>
          <a:solidFill>
            <a:srgbClr val="B14A28"/>
          </a:solidFill>
          <a:ln/>
        </p:spPr>
      </p:sp>
      <p:sp>
        <p:nvSpPr>
          <p:cNvPr id="12" name="Text 9"/>
          <p:cNvSpPr/>
          <p:nvPr/>
        </p:nvSpPr>
        <p:spPr>
          <a:xfrm>
            <a:off x="1161288" y="1627632"/>
            <a:ext cx="566928" cy="566928"/>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13" name="Text 10"/>
          <p:cNvSpPr/>
          <p:nvPr/>
        </p:nvSpPr>
        <p:spPr>
          <a:xfrm>
            <a:off x="594360" y="2286000"/>
            <a:ext cx="1691640" cy="365760"/>
          </a:xfrm>
          <a:prstGeom prst="rect">
            <a:avLst/>
          </a:prstGeom>
          <a:noFill/>
          <a:ln/>
        </p:spPr>
        <p:txBody>
          <a:bodyPr wrap="square" rtlCol="0" anchor="ctr"/>
          <a:lstStyle/>
          <a:p>
            <a:pPr algn="ctr" indent="0" marL="0">
              <a:buNone/>
            </a:pPr>
            <a:r>
              <a:rPr lang="en-US" sz="1500" b="1" dirty="0">
                <a:solidFill>
                  <a:srgbClr val="2B2B2B"/>
                </a:solidFill>
                <a:latin typeface="Arial" pitchFamily="34" charset="0"/>
                <a:ea typeface="Arial" pitchFamily="34" charset="-122"/>
                <a:cs typeface="Arial" pitchFamily="34" charset="-120"/>
              </a:rPr>
              <a:t>Menu</a:t>
            </a:r>
            <a:endParaRPr lang="en-US" sz="1500" dirty="0"/>
          </a:p>
        </p:txBody>
      </p:sp>
      <p:sp>
        <p:nvSpPr>
          <p:cNvPr id="14" name="Text 11"/>
          <p:cNvSpPr/>
          <p:nvPr/>
        </p:nvSpPr>
        <p:spPr>
          <a:xfrm>
            <a:off x="667512" y="2697480"/>
            <a:ext cx="1554480" cy="1554480"/>
          </a:xfrm>
          <a:prstGeom prst="rect">
            <a:avLst/>
          </a:prstGeom>
          <a:noFill/>
          <a:ln/>
        </p:spPr>
        <p:txBody>
          <a:bodyPr wrap="square" rtlCol="0" anchor="t"/>
          <a:lstStyle/>
          <a:p>
            <a:pPr algn="ctr" indent="0" marL="0">
              <a:buNone/>
            </a:pPr>
            <a:r>
              <a:rPr lang="en-US" sz="1150" dirty="0">
                <a:solidFill>
                  <a:srgbClr val="6B6B6B"/>
                </a:solidFill>
                <a:latin typeface="Arial" pitchFamily="34" charset="0"/>
                <a:ea typeface="Arial" pitchFamily="34" charset="-122"/>
                <a:cs typeface="Arial" pitchFamily="34" charset="-120"/>
              </a:rPr>
              <a:t>Plats groupés par catégorie, barre de recherche, plats disponibles en priorité.</a:t>
            </a:r>
            <a:endParaRPr lang="en-US" sz="1150" dirty="0"/>
          </a:p>
        </p:txBody>
      </p:sp>
      <p:sp>
        <p:nvSpPr>
          <p:cNvPr id="15" name="Text 12"/>
          <p:cNvSpPr/>
          <p:nvPr/>
        </p:nvSpPr>
        <p:spPr>
          <a:xfrm>
            <a:off x="2286000" y="1417320"/>
            <a:ext cx="457200" cy="2926080"/>
          </a:xfrm>
          <a:prstGeom prst="rect">
            <a:avLst/>
          </a:prstGeom>
          <a:noFill/>
          <a:ln/>
        </p:spPr>
        <p:txBody>
          <a:bodyPr wrap="square" rtlCol="0" anchor="ctr"/>
          <a:lstStyle/>
          <a:p>
            <a:pPr algn="ctr" indent="0" marL="0">
              <a:buNone/>
            </a:pPr>
            <a:r>
              <a:rPr lang="en-US" sz="3000" b="1" dirty="0">
                <a:solidFill>
                  <a:srgbClr val="E8A33D"/>
                </a:solidFill>
                <a:latin typeface="Arial" pitchFamily="34" charset="0"/>
                <a:ea typeface="Arial" pitchFamily="34" charset="-122"/>
                <a:cs typeface="Arial" pitchFamily="34" charset="-120"/>
              </a:rPr>
              <a:t>›</a:t>
            </a:r>
            <a:endParaRPr lang="en-US" sz="3000" dirty="0"/>
          </a:p>
        </p:txBody>
      </p:sp>
      <p:sp>
        <p:nvSpPr>
          <p:cNvPr id="16" name="Shape 13"/>
          <p:cNvSpPr/>
          <p:nvPr/>
        </p:nvSpPr>
        <p:spPr>
          <a:xfrm>
            <a:off x="2587752" y="1417320"/>
            <a:ext cx="1874520" cy="2926080"/>
          </a:xfrm>
          <a:prstGeom prst="roundRect">
            <a:avLst>
              <a:gd name="adj" fmla="val 2927"/>
            </a:avLst>
          </a:prstGeom>
          <a:solidFill>
            <a:srgbClr val="FBF4EA"/>
          </a:solidFill>
          <a:ln w="12700">
            <a:solidFill>
              <a:srgbClr val="EADBC4"/>
            </a:solidFill>
            <a:prstDash val="solid"/>
          </a:ln>
        </p:spPr>
      </p:sp>
      <p:sp>
        <p:nvSpPr>
          <p:cNvPr id="17" name="Shape 14"/>
          <p:cNvSpPr/>
          <p:nvPr/>
        </p:nvSpPr>
        <p:spPr>
          <a:xfrm>
            <a:off x="3246120" y="1627632"/>
            <a:ext cx="566928" cy="566928"/>
          </a:xfrm>
          <a:prstGeom prst="ellipse">
            <a:avLst/>
          </a:prstGeom>
          <a:solidFill>
            <a:srgbClr val="C8852A"/>
          </a:solidFill>
          <a:ln/>
        </p:spPr>
      </p:sp>
      <p:sp>
        <p:nvSpPr>
          <p:cNvPr id="18" name="Text 15"/>
          <p:cNvSpPr/>
          <p:nvPr/>
        </p:nvSpPr>
        <p:spPr>
          <a:xfrm>
            <a:off x="3246120" y="1627632"/>
            <a:ext cx="566928" cy="566928"/>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9" name="Text 16"/>
          <p:cNvSpPr/>
          <p:nvPr/>
        </p:nvSpPr>
        <p:spPr>
          <a:xfrm>
            <a:off x="2679192" y="2286000"/>
            <a:ext cx="1691640" cy="365760"/>
          </a:xfrm>
          <a:prstGeom prst="rect">
            <a:avLst/>
          </a:prstGeom>
          <a:noFill/>
          <a:ln/>
        </p:spPr>
        <p:txBody>
          <a:bodyPr wrap="square" rtlCol="0" anchor="ctr"/>
          <a:lstStyle/>
          <a:p>
            <a:pPr algn="ctr" indent="0" marL="0">
              <a:buNone/>
            </a:pPr>
            <a:r>
              <a:rPr lang="en-US" sz="1500" b="1" dirty="0">
                <a:solidFill>
                  <a:srgbClr val="2B2B2B"/>
                </a:solidFill>
                <a:latin typeface="Arial" pitchFamily="34" charset="0"/>
                <a:ea typeface="Arial" pitchFamily="34" charset="-122"/>
                <a:cs typeface="Arial" pitchFamily="34" charset="-120"/>
              </a:rPr>
              <a:t>Panier</a:t>
            </a:r>
            <a:endParaRPr lang="en-US" sz="1500" dirty="0"/>
          </a:p>
        </p:txBody>
      </p:sp>
      <p:sp>
        <p:nvSpPr>
          <p:cNvPr id="20" name="Text 17"/>
          <p:cNvSpPr/>
          <p:nvPr/>
        </p:nvSpPr>
        <p:spPr>
          <a:xfrm>
            <a:off x="2752344" y="2697480"/>
            <a:ext cx="1554480" cy="1554480"/>
          </a:xfrm>
          <a:prstGeom prst="rect">
            <a:avLst/>
          </a:prstGeom>
          <a:noFill/>
          <a:ln/>
        </p:spPr>
        <p:txBody>
          <a:bodyPr wrap="square" rtlCol="0" anchor="t"/>
          <a:lstStyle/>
          <a:p>
            <a:pPr algn="ctr" indent="0" marL="0">
              <a:buNone/>
            </a:pPr>
            <a:r>
              <a:rPr lang="en-US" sz="1150" dirty="0">
                <a:solidFill>
                  <a:srgbClr val="6B6B6B"/>
                </a:solidFill>
                <a:latin typeface="Arial" pitchFamily="34" charset="0"/>
                <a:ea typeface="Arial" pitchFamily="34" charset="-122"/>
                <a:cs typeface="Arial" pitchFamily="34" charset="-120"/>
              </a:rPr>
              <a:t>Stocké en session, quantités modifiables en AJAX, total recalculé en direct.</a:t>
            </a:r>
            <a:endParaRPr lang="en-US" sz="1150" dirty="0"/>
          </a:p>
        </p:txBody>
      </p:sp>
      <p:sp>
        <p:nvSpPr>
          <p:cNvPr id="21" name="Text 18"/>
          <p:cNvSpPr/>
          <p:nvPr/>
        </p:nvSpPr>
        <p:spPr>
          <a:xfrm>
            <a:off x="4370832" y="1417320"/>
            <a:ext cx="457200" cy="2926080"/>
          </a:xfrm>
          <a:prstGeom prst="rect">
            <a:avLst/>
          </a:prstGeom>
          <a:noFill/>
          <a:ln/>
        </p:spPr>
        <p:txBody>
          <a:bodyPr wrap="square" rtlCol="0" anchor="ctr"/>
          <a:lstStyle/>
          <a:p>
            <a:pPr algn="ctr" indent="0" marL="0">
              <a:buNone/>
            </a:pPr>
            <a:r>
              <a:rPr lang="en-US" sz="3000" b="1" dirty="0">
                <a:solidFill>
                  <a:srgbClr val="E8A33D"/>
                </a:solidFill>
                <a:latin typeface="Arial" pitchFamily="34" charset="0"/>
                <a:ea typeface="Arial" pitchFamily="34" charset="-122"/>
                <a:cs typeface="Arial" pitchFamily="34" charset="-120"/>
              </a:rPr>
              <a:t>›</a:t>
            </a:r>
            <a:endParaRPr lang="en-US" sz="3000" dirty="0"/>
          </a:p>
        </p:txBody>
      </p:sp>
      <p:sp>
        <p:nvSpPr>
          <p:cNvPr id="22" name="Shape 19"/>
          <p:cNvSpPr/>
          <p:nvPr/>
        </p:nvSpPr>
        <p:spPr>
          <a:xfrm>
            <a:off x="4672584" y="1417320"/>
            <a:ext cx="1874520" cy="2926080"/>
          </a:xfrm>
          <a:prstGeom prst="roundRect">
            <a:avLst>
              <a:gd name="adj" fmla="val 2927"/>
            </a:avLst>
          </a:prstGeom>
          <a:solidFill>
            <a:srgbClr val="FBF4EA"/>
          </a:solidFill>
          <a:ln w="12700">
            <a:solidFill>
              <a:srgbClr val="EADBC4"/>
            </a:solidFill>
            <a:prstDash val="solid"/>
          </a:ln>
        </p:spPr>
      </p:sp>
      <p:sp>
        <p:nvSpPr>
          <p:cNvPr id="23" name="Shape 20"/>
          <p:cNvSpPr/>
          <p:nvPr/>
        </p:nvSpPr>
        <p:spPr>
          <a:xfrm>
            <a:off x="5330952" y="1627632"/>
            <a:ext cx="566928" cy="566928"/>
          </a:xfrm>
          <a:prstGeom prst="ellipse">
            <a:avLst/>
          </a:prstGeom>
          <a:solidFill>
            <a:srgbClr val="B14A28"/>
          </a:solidFill>
          <a:ln/>
        </p:spPr>
      </p:sp>
      <p:sp>
        <p:nvSpPr>
          <p:cNvPr id="24" name="Text 21"/>
          <p:cNvSpPr/>
          <p:nvPr/>
        </p:nvSpPr>
        <p:spPr>
          <a:xfrm>
            <a:off x="5330952" y="1627632"/>
            <a:ext cx="566928" cy="566928"/>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25" name="Text 22"/>
          <p:cNvSpPr/>
          <p:nvPr/>
        </p:nvSpPr>
        <p:spPr>
          <a:xfrm>
            <a:off x="4764024" y="2286000"/>
            <a:ext cx="1691640" cy="365760"/>
          </a:xfrm>
          <a:prstGeom prst="rect">
            <a:avLst/>
          </a:prstGeom>
          <a:noFill/>
          <a:ln/>
        </p:spPr>
        <p:txBody>
          <a:bodyPr wrap="square" rtlCol="0" anchor="ctr"/>
          <a:lstStyle/>
          <a:p>
            <a:pPr algn="ctr" indent="0" marL="0">
              <a:buNone/>
            </a:pPr>
            <a:r>
              <a:rPr lang="en-US" sz="1500" b="1" dirty="0">
                <a:solidFill>
                  <a:srgbClr val="2B2B2B"/>
                </a:solidFill>
                <a:latin typeface="Arial" pitchFamily="34" charset="0"/>
                <a:ea typeface="Arial" pitchFamily="34" charset="-122"/>
                <a:cs typeface="Arial" pitchFamily="34" charset="-120"/>
              </a:rPr>
              <a:t>Commande</a:t>
            </a:r>
            <a:endParaRPr lang="en-US" sz="1500" dirty="0"/>
          </a:p>
        </p:txBody>
      </p:sp>
      <p:sp>
        <p:nvSpPr>
          <p:cNvPr id="26" name="Text 23"/>
          <p:cNvSpPr/>
          <p:nvPr/>
        </p:nvSpPr>
        <p:spPr>
          <a:xfrm>
            <a:off x="4837176" y="2697480"/>
            <a:ext cx="1554480" cy="1554480"/>
          </a:xfrm>
          <a:prstGeom prst="rect">
            <a:avLst/>
          </a:prstGeom>
          <a:noFill/>
          <a:ln/>
        </p:spPr>
        <p:txBody>
          <a:bodyPr wrap="square" rtlCol="0" anchor="t"/>
          <a:lstStyle/>
          <a:p>
            <a:pPr algn="ctr" indent="0" marL="0">
              <a:buNone/>
            </a:pPr>
            <a:r>
              <a:rPr lang="en-US" sz="1150" dirty="0">
                <a:solidFill>
                  <a:srgbClr val="6B6B6B"/>
                </a:solidFill>
                <a:latin typeface="Arial" pitchFamily="34" charset="0"/>
                <a:ea typeface="Arial" pitchFamily="34" charset="-122"/>
                <a:cs typeface="Arial" pitchFamily="34" charset="-120"/>
              </a:rPr>
              <a:t>Adresse + destinataire, client retrouvé par téléphone, enregistrement en transaction.</a:t>
            </a:r>
            <a:endParaRPr lang="en-US" sz="1150" dirty="0"/>
          </a:p>
        </p:txBody>
      </p:sp>
      <p:sp>
        <p:nvSpPr>
          <p:cNvPr id="27" name="Text 24"/>
          <p:cNvSpPr/>
          <p:nvPr/>
        </p:nvSpPr>
        <p:spPr>
          <a:xfrm>
            <a:off x="6455664" y="1417320"/>
            <a:ext cx="457200" cy="2926080"/>
          </a:xfrm>
          <a:prstGeom prst="rect">
            <a:avLst/>
          </a:prstGeom>
          <a:noFill/>
          <a:ln/>
        </p:spPr>
        <p:txBody>
          <a:bodyPr wrap="square" rtlCol="0" anchor="ctr"/>
          <a:lstStyle/>
          <a:p>
            <a:pPr algn="ctr" indent="0" marL="0">
              <a:buNone/>
            </a:pPr>
            <a:r>
              <a:rPr lang="en-US" sz="3000" b="1" dirty="0">
                <a:solidFill>
                  <a:srgbClr val="E8A33D"/>
                </a:solidFill>
                <a:latin typeface="Arial" pitchFamily="34" charset="0"/>
                <a:ea typeface="Arial" pitchFamily="34" charset="-122"/>
                <a:cs typeface="Arial" pitchFamily="34" charset="-120"/>
              </a:rPr>
              <a:t>›</a:t>
            </a:r>
            <a:endParaRPr lang="en-US" sz="3000" dirty="0"/>
          </a:p>
        </p:txBody>
      </p:sp>
      <p:sp>
        <p:nvSpPr>
          <p:cNvPr id="28" name="Shape 25"/>
          <p:cNvSpPr/>
          <p:nvPr/>
        </p:nvSpPr>
        <p:spPr>
          <a:xfrm>
            <a:off x="6757416" y="1417320"/>
            <a:ext cx="1874520" cy="2926080"/>
          </a:xfrm>
          <a:prstGeom prst="roundRect">
            <a:avLst>
              <a:gd name="adj" fmla="val 2927"/>
            </a:avLst>
          </a:prstGeom>
          <a:solidFill>
            <a:srgbClr val="FBF4EA"/>
          </a:solidFill>
          <a:ln w="12700">
            <a:solidFill>
              <a:srgbClr val="EADBC4"/>
            </a:solidFill>
            <a:prstDash val="solid"/>
          </a:ln>
        </p:spPr>
      </p:sp>
      <p:sp>
        <p:nvSpPr>
          <p:cNvPr id="29" name="Shape 26"/>
          <p:cNvSpPr/>
          <p:nvPr/>
        </p:nvSpPr>
        <p:spPr>
          <a:xfrm>
            <a:off x="7415784" y="1627632"/>
            <a:ext cx="566928" cy="566928"/>
          </a:xfrm>
          <a:prstGeom prst="ellipse">
            <a:avLst/>
          </a:prstGeom>
          <a:solidFill>
            <a:srgbClr val="C8852A"/>
          </a:solidFill>
          <a:ln/>
        </p:spPr>
      </p:sp>
      <p:sp>
        <p:nvSpPr>
          <p:cNvPr id="30" name="Text 27"/>
          <p:cNvSpPr/>
          <p:nvPr/>
        </p:nvSpPr>
        <p:spPr>
          <a:xfrm>
            <a:off x="7415784" y="1627632"/>
            <a:ext cx="566928" cy="566928"/>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31" name="Text 28"/>
          <p:cNvSpPr/>
          <p:nvPr/>
        </p:nvSpPr>
        <p:spPr>
          <a:xfrm>
            <a:off x="6848856" y="2286000"/>
            <a:ext cx="1691640" cy="365760"/>
          </a:xfrm>
          <a:prstGeom prst="rect">
            <a:avLst/>
          </a:prstGeom>
          <a:noFill/>
          <a:ln/>
        </p:spPr>
        <p:txBody>
          <a:bodyPr wrap="square" rtlCol="0" anchor="ctr"/>
          <a:lstStyle/>
          <a:p>
            <a:pPr algn="ctr" indent="0" marL="0">
              <a:buNone/>
            </a:pPr>
            <a:r>
              <a:rPr lang="en-US" sz="1500" b="1" dirty="0">
                <a:solidFill>
                  <a:srgbClr val="2B2B2B"/>
                </a:solidFill>
                <a:latin typeface="Arial" pitchFamily="34" charset="0"/>
                <a:ea typeface="Arial" pitchFamily="34" charset="-122"/>
                <a:cs typeface="Arial" pitchFamily="34" charset="-120"/>
              </a:rPr>
              <a:t>Suivi</a:t>
            </a:r>
            <a:endParaRPr lang="en-US" sz="1500" dirty="0"/>
          </a:p>
        </p:txBody>
      </p:sp>
      <p:sp>
        <p:nvSpPr>
          <p:cNvPr id="32" name="Text 29"/>
          <p:cNvSpPr/>
          <p:nvPr/>
        </p:nvSpPr>
        <p:spPr>
          <a:xfrm>
            <a:off x="6922008" y="2697480"/>
            <a:ext cx="1554480" cy="1554480"/>
          </a:xfrm>
          <a:prstGeom prst="rect">
            <a:avLst/>
          </a:prstGeom>
          <a:noFill/>
          <a:ln/>
        </p:spPr>
        <p:txBody>
          <a:bodyPr wrap="square" rtlCol="0" anchor="t"/>
          <a:lstStyle/>
          <a:p>
            <a:pPr algn="ctr" indent="0" marL="0">
              <a:buNone/>
            </a:pPr>
            <a:r>
              <a:rPr lang="en-US" sz="1150" dirty="0">
                <a:solidFill>
                  <a:srgbClr val="6B6B6B"/>
                </a:solidFill>
                <a:latin typeface="Arial" pitchFamily="34" charset="0"/>
                <a:ea typeface="Arial" pitchFamily="34" charset="-122"/>
                <a:cs typeface="Arial" pitchFamily="34" charset="-120"/>
              </a:rPr>
              <a:t>Recherche par n° + téléphone, frise des statuts horodatée, accès protégé (403).</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8852A"/>
          </a:solidFill>
          <a:ln/>
        </p:spPr>
      </p:sp>
      <p:sp>
        <p:nvSpPr>
          <p:cNvPr id="3" name="Shape 1"/>
          <p:cNvSpPr/>
          <p:nvPr/>
        </p:nvSpPr>
        <p:spPr>
          <a:xfrm>
            <a:off x="0" y="868680"/>
            <a:ext cx="9144000" cy="54864"/>
          </a:xfrm>
          <a:prstGeom prst="rect">
            <a:avLst/>
          </a:prstGeom>
          <a:solidFill>
            <a:srgbClr val="E8A33D"/>
          </a:solidFill>
          <a:ln/>
        </p:spPr>
      </p:sp>
      <p:sp>
        <p:nvSpPr>
          <p:cNvPr id="4" name="Text 2"/>
          <p:cNvSpPr/>
          <p:nvPr/>
        </p:nvSpPr>
        <p:spPr>
          <a:xfrm>
            <a:off x="365760" y="109728"/>
            <a:ext cx="8412480" cy="256032"/>
          </a:xfrm>
          <a:prstGeom prst="rect">
            <a:avLst/>
          </a:prstGeom>
          <a:noFill/>
          <a:ln/>
        </p:spPr>
        <p:txBody>
          <a:bodyPr wrap="square" rtlCol="0" anchor="ctr"/>
          <a:lstStyle/>
          <a:p>
            <a:pPr indent="0" marL="0">
              <a:buNone/>
            </a:pPr>
            <a:r>
              <a:rPr lang="en-US" sz="1100" b="1" spc="200" kern="0" dirty="0">
                <a:solidFill>
                  <a:srgbClr val="FFE2CC"/>
                </a:solidFill>
                <a:latin typeface="Arial" pitchFamily="34" charset="0"/>
                <a:ea typeface="Arial" pitchFamily="34" charset="-122"/>
                <a:cs typeface="Arial" pitchFamily="34" charset="-120"/>
              </a:rPr>
              <a:t>III. PRÉSENTATION DE L'APPLICATION</a:t>
            </a:r>
            <a:endParaRPr lang="en-US" sz="1100" dirty="0"/>
          </a:p>
        </p:txBody>
      </p:sp>
      <p:sp>
        <p:nvSpPr>
          <p:cNvPr id="5" name="Text 3"/>
          <p:cNvSpPr/>
          <p:nvPr/>
        </p:nvSpPr>
        <p:spPr>
          <a:xfrm>
            <a:off x="365760" y="329184"/>
            <a:ext cx="8412480" cy="50292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Espace gérant : le back-office</a:t>
            </a:r>
            <a:endParaRPr lang="en-US" sz="2400" dirty="0"/>
          </a:p>
        </p:txBody>
      </p:sp>
      <p:sp>
        <p:nvSpPr>
          <p:cNvPr id="7" name="Shape 4"/>
          <p:cNvSpPr/>
          <p:nvPr/>
        </p:nvSpPr>
        <p:spPr>
          <a:xfrm>
            <a:off x="0" y="4901184"/>
            <a:ext cx="9144000" cy="242316"/>
          </a:xfrm>
          <a:prstGeom prst="rect">
            <a:avLst/>
          </a:prstGeom>
          <a:solidFill>
            <a:srgbClr val="FBF4EA"/>
          </a:solidFill>
          <a:ln/>
        </p:spPr>
      </p:sp>
      <p:sp>
        <p:nvSpPr>
          <p:cNvPr id="8" name="Text 5"/>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9" name="Text 6"/>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19</a:t>
            </a:r>
            <a:endParaRPr lang="en-US" sz="900" dirty="0"/>
          </a:p>
        </p:txBody>
      </p:sp>
      <p:sp>
        <p:nvSpPr>
          <p:cNvPr id="10" name="Text 7"/>
          <p:cNvSpPr/>
          <p:nvPr/>
        </p:nvSpPr>
        <p:spPr>
          <a:xfrm>
            <a:off x="502920" y="1280160"/>
            <a:ext cx="8138160" cy="3383280"/>
          </a:xfrm>
          <a:prstGeom prst="rect">
            <a:avLst/>
          </a:prstGeom>
          <a:noFill/>
          <a:ln/>
        </p:spPr>
        <p:txBody>
          <a:bodyPr wrap="square" rtlCol="0" anchor="t"/>
          <a:lstStyle/>
          <a:p>
            <a:pPr marL="228600" indent="-228600">
              <a:lnSpc>
                <a:spcPct val="105000"/>
              </a:lnSpc>
              <a:spcAft>
                <a:spcPts val="1000"/>
              </a:spcAft>
              <a:buSzPct val="100000"/>
              <a:buChar char="•"/>
            </a:pPr>
            <a:r>
              <a:rPr lang="en-US" sz="1600" b="1" dirty="0">
                <a:solidFill>
                  <a:srgbClr val="2B2B2B"/>
                </a:solidFill>
                <a:latin typeface="Arial" pitchFamily="34" charset="0"/>
                <a:ea typeface="Arial" pitchFamily="34" charset="-122"/>
                <a:cs typeface="Arial" pitchFamily="34" charset="-120"/>
              </a:rPr>
              <a:t>Tableau de bord : CA du jour et total, top 5 des plats, CA des 7 derniers jours, répartition par statut.</a:t>
            </a:r>
            <a:endParaRPr lang="en-US" sz="1600" dirty="0"/>
          </a:p>
          <a:p>
            <a:pPr marL="228600" indent="-228600">
              <a:lnSpc>
                <a:spcPct val="105000"/>
              </a:lnSpc>
              <a:spcAft>
                <a:spcPts val="1000"/>
              </a:spcAft>
              <a:buSzPct val="100000"/>
              <a:buChar char="•"/>
            </a:pPr>
            <a:r>
              <a:rPr lang="en-US" sz="1600" dirty="0">
                <a:solidFill>
                  <a:srgbClr val="2B2B2B"/>
                </a:solidFill>
                <a:latin typeface="Arial" pitchFamily="34" charset="0"/>
                <a:ea typeface="Arial" pitchFamily="34" charset="-122"/>
                <a:cs typeface="Arial" pitchFamily="34" charset="-120"/>
              </a:rPr>
              <a:t>Gestion de la carte : CRUD des plats (prix, disponibilité, image par upload ou URL), recherche et filtre.</a:t>
            </a:r>
            <a:endParaRPr lang="en-US" sz="1600" dirty="0"/>
          </a:p>
          <a:p>
            <a:pPr marL="228600" indent="-228600">
              <a:lnSpc>
                <a:spcPct val="105000"/>
              </a:lnSpc>
              <a:spcAft>
                <a:spcPts val="1000"/>
              </a:spcAft>
              <a:buSzPct val="100000"/>
              <a:buChar char="•"/>
            </a:pPr>
            <a:r>
              <a:rPr lang="en-US" sz="1600" dirty="0">
                <a:solidFill>
                  <a:srgbClr val="2B2B2B"/>
                </a:solidFill>
                <a:latin typeface="Arial" pitchFamily="34" charset="0"/>
                <a:ea typeface="Arial" pitchFamily="34" charset="-122"/>
                <a:cs typeface="Arial" pitchFamily="34" charset="-120"/>
              </a:rPr>
              <a:t>Catégories &amp; clients : CRUD complet, recherche multi-champs, garde-fous d'intégrité.</a:t>
            </a:r>
            <a:endParaRPr lang="en-US" sz="1600" dirty="0"/>
          </a:p>
          <a:p>
            <a:pPr marL="228600" indent="-228600">
              <a:lnSpc>
                <a:spcPct val="105000"/>
              </a:lnSpc>
              <a:spcAft>
                <a:spcPts val="1000"/>
              </a:spcAft>
              <a:buSzPct val="100000"/>
              <a:buChar char="•"/>
            </a:pPr>
            <a:r>
              <a:rPr lang="en-US" sz="1600" dirty="0">
                <a:solidFill>
                  <a:srgbClr val="2B2B2B"/>
                </a:solidFill>
                <a:latin typeface="Arial" pitchFamily="34" charset="0"/>
                <a:ea typeface="Arial" pitchFamily="34" charset="-122"/>
                <a:cs typeface="Arial" pitchFamily="34" charset="-120"/>
              </a:rPr>
              <a:t>Commandes : liste filtrable, détail, changement de statut en temps réel (journalisé).</a:t>
            </a:r>
            <a:endParaRPr lang="en-US" sz="1600" dirty="0"/>
          </a:p>
          <a:p>
            <a:pPr marL="228600" indent="-228600">
              <a:lnSpc>
                <a:spcPct val="105000"/>
              </a:lnSpc>
              <a:spcAft>
                <a:spcPts val="1000"/>
              </a:spcAft>
              <a:buSzPct val="100000"/>
              <a:buChar char="•"/>
            </a:pPr>
            <a:r>
              <a:rPr lang="en-US" sz="1600" dirty="0">
                <a:solidFill>
                  <a:srgbClr val="2B2B2B"/>
                </a:solidFill>
                <a:latin typeface="Arial" pitchFamily="34" charset="0"/>
                <a:ea typeface="Arial" pitchFamily="34" charset="-122"/>
                <a:cs typeface="Arial" pitchFamily="34" charset="-120"/>
              </a:rPr>
              <a:t>Équipe : comptes admin / operator, création, édition, activation / désactivation.</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B14A28"/>
        </a:solidFill>
      </p:bgPr>
    </p:bg>
    <p:spTree>
      <p:nvGrpSpPr>
        <p:cNvPr id="1" name=""/>
        <p:cNvGrpSpPr/>
        <p:nvPr/>
      </p:nvGrpSpPr>
      <p:grpSpPr>
        <a:xfrm>
          <a:off x="0" y="0"/>
          <a:ext cx="0" cy="0"/>
          <a:chOff x="0" y="0"/>
          <a:chExt cx="0" cy="0"/>
        </a:xfrm>
      </p:grpSpPr>
      <p:sp>
        <p:nvSpPr>
          <p:cNvPr id="2" name="Shape 0"/>
          <p:cNvSpPr/>
          <p:nvPr/>
        </p:nvSpPr>
        <p:spPr>
          <a:xfrm>
            <a:off x="0" y="2148840"/>
            <a:ext cx="9144000" cy="54864"/>
          </a:xfrm>
          <a:prstGeom prst="rect">
            <a:avLst/>
          </a:prstGeom>
          <a:solidFill>
            <a:srgbClr val="E8A33D"/>
          </a:solidFill>
          <a:ln/>
        </p:spPr>
      </p:sp>
      <p:sp>
        <p:nvSpPr>
          <p:cNvPr id="3" name="Text 1"/>
          <p:cNvSpPr/>
          <p:nvPr/>
        </p:nvSpPr>
        <p:spPr>
          <a:xfrm>
            <a:off x="548640" y="1371600"/>
            <a:ext cx="2011680" cy="1463040"/>
          </a:xfrm>
          <a:prstGeom prst="rect">
            <a:avLst/>
          </a:prstGeom>
          <a:noFill/>
          <a:ln/>
        </p:spPr>
        <p:txBody>
          <a:bodyPr wrap="square" rtlCol="0" anchor="ctr"/>
          <a:lstStyle/>
          <a:p>
            <a:pPr algn="ctr" indent="0" marL="0">
              <a:buNone/>
            </a:pPr>
            <a:r>
              <a:rPr lang="en-US" sz="9600" b="1" dirty="0">
                <a:solidFill>
                  <a:srgbClr val="D98A63"/>
                </a:solidFill>
                <a:latin typeface="Arial" pitchFamily="34" charset="0"/>
                <a:ea typeface="Arial" pitchFamily="34" charset="-122"/>
                <a:cs typeface="Arial" pitchFamily="34" charset="-120"/>
              </a:rPr>
              <a:t>IV</a:t>
            </a:r>
            <a:endParaRPr lang="en-US" sz="9600" dirty="0"/>
          </a:p>
        </p:txBody>
      </p:sp>
      <p:sp>
        <p:nvSpPr>
          <p:cNvPr id="4" name="Text 2"/>
          <p:cNvSpPr/>
          <p:nvPr/>
        </p:nvSpPr>
        <p:spPr>
          <a:xfrm>
            <a:off x="2651760" y="2194560"/>
            <a:ext cx="6035040" cy="128016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Outils Utilisés</a:t>
            </a:r>
            <a:endParaRPr lang="en-US" sz="3200" dirty="0"/>
          </a:p>
        </p:txBody>
      </p:sp>
      <p:sp>
        <p:nvSpPr>
          <p:cNvPr id="6" name="Shape 3"/>
          <p:cNvSpPr/>
          <p:nvPr/>
        </p:nvSpPr>
        <p:spPr>
          <a:xfrm>
            <a:off x="0" y="4901184"/>
            <a:ext cx="9144000" cy="242316"/>
          </a:xfrm>
          <a:prstGeom prst="rect">
            <a:avLst/>
          </a:prstGeom>
          <a:solidFill>
            <a:srgbClr val="FBF4EA"/>
          </a:solidFill>
          <a:ln/>
        </p:spPr>
      </p:sp>
      <p:sp>
        <p:nvSpPr>
          <p:cNvPr id="7" name="Text 4"/>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8" name="Text 5"/>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B14A28"/>
          </a:solidFill>
          <a:ln/>
        </p:spPr>
      </p:sp>
      <p:sp>
        <p:nvSpPr>
          <p:cNvPr id="3" name="Shape 1"/>
          <p:cNvSpPr/>
          <p:nvPr/>
        </p:nvSpPr>
        <p:spPr>
          <a:xfrm>
            <a:off x="0" y="868680"/>
            <a:ext cx="9144000" cy="54864"/>
          </a:xfrm>
          <a:prstGeom prst="rect">
            <a:avLst/>
          </a:prstGeom>
          <a:solidFill>
            <a:srgbClr val="E8A33D"/>
          </a:solidFill>
          <a:ln/>
        </p:spPr>
      </p:sp>
      <p:sp>
        <p:nvSpPr>
          <p:cNvPr id="4" name="Text 2"/>
          <p:cNvSpPr/>
          <p:nvPr/>
        </p:nvSpPr>
        <p:spPr>
          <a:xfrm>
            <a:off x="365760" y="109728"/>
            <a:ext cx="8412480" cy="256032"/>
          </a:xfrm>
          <a:prstGeom prst="rect">
            <a:avLst/>
          </a:prstGeom>
          <a:noFill/>
          <a:ln/>
        </p:spPr>
        <p:txBody>
          <a:bodyPr wrap="square" rtlCol="0" anchor="ctr"/>
          <a:lstStyle/>
          <a:p>
            <a:pPr indent="0" marL="0">
              <a:buNone/>
            </a:pPr>
            <a:r>
              <a:rPr lang="en-US" sz="1100" b="1" spc="200" kern="0" dirty="0">
                <a:solidFill>
                  <a:srgbClr val="FFE2CC"/>
                </a:solidFill>
                <a:latin typeface="Arial" pitchFamily="34" charset="0"/>
                <a:ea typeface="Arial" pitchFamily="34" charset="-122"/>
                <a:cs typeface="Arial" pitchFamily="34" charset="-120"/>
              </a:rPr>
              <a:t>IV. OUTILS UTILISÉS</a:t>
            </a:r>
            <a:endParaRPr lang="en-US" sz="1100" dirty="0"/>
          </a:p>
        </p:txBody>
      </p:sp>
      <p:sp>
        <p:nvSpPr>
          <p:cNvPr id="5" name="Text 3"/>
          <p:cNvSpPr/>
          <p:nvPr/>
        </p:nvSpPr>
        <p:spPr>
          <a:xfrm>
            <a:off x="365760" y="329184"/>
            <a:ext cx="8412480" cy="50292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Pile technique</a:t>
            </a:r>
            <a:endParaRPr lang="en-US" sz="2400" dirty="0"/>
          </a:p>
        </p:txBody>
      </p:sp>
      <p:sp>
        <p:nvSpPr>
          <p:cNvPr id="7" name="Shape 4"/>
          <p:cNvSpPr/>
          <p:nvPr/>
        </p:nvSpPr>
        <p:spPr>
          <a:xfrm>
            <a:off x="0" y="4901184"/>
            <a:ext cx="9144000" cy="242316"/>
          </a:xfrm>
          <a:prstGeom prst="rect">
            <a:avLst/>
          </a:prstGeom>
          <a:solidFill>
            <a:srgbClr val="FBF4EA"/>
          </a:solidFill>
          <a:ln/>
        </p:spPr>
      </p:sp>
      <p:sp>
        <p:nvSpPr>
          <p:cNvPr id="8" name="Text 5"/>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9" name="Text 6"/>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8138160" cy="914400"/>
        </p:xfrm>
        <a:graphic>
          <a:graphicData uri="http://schemas.openxmlformats.org/drawingml/2006/table">
            <a:tbl>
              <a:tblPr/>
              <a:tblGrid>
                <a:gridCol w="2377440"/>
                <a:gridCol w="5760720"/>
              </a:tblGrid>
              <a:tr h="475488">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Couche</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B14A28"/>
                    </a:solidFill>
                  </a:tcPr>
                </a:tc>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Technologie</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B14A28"/>
                    </a:solidFill>
                  </a:tcPr>
                </a:tc>
              </a:tr>
              <a:tr h="475488">
                <a:tc>
                  <a:txBody>
                    <a:bodyPr/>
                    <a:lstStyle/>
                    <a:p>
                      <a:pPr algn="l" indent="0" marL="0">
                        <a:buNone/>
                      </a:pPr>
                      <a:r>
                        <a:rPr lang="en-US" sz="1300" b="1" dirty="0">
                          <a:solidFill>
                            <a:srgbClr val="2B2B2B"/>
                          </a:solidFill>
                          <a:latin typeface="Arial" pitchFamily="34" charset="0"/>
                          <a:ea typeface="Arial" pitchFamily="34" charset="-122"/>
                          <a:cs typeface="Arial" pitchFamily="34" charset="-120"/>
                        </a:rPr>
                        <a:t>Backend</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BF4EA"/>
                    </a:solidFill>
                  </a:tcPr>
                </a:tc>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PHP 8.2+ · Laravel 12 · Eloquent ORM</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BF4EA"/>
                    </a:solidFill>
                  </a:tcPr>
                </a:tc>
              </a:tr>
              <a:tr h="475488">
                <a:tc>
                  <a:txBody>
                    <a:bodyPr/>
                    <a:lstStyle/>
                    <a:p>
                      <a:pPr algn="l" indent="0" marL="0">
                        <a:buNone/>
                      </a:pPr>
                      <a:r>
                        <a:rPr lang="en-US" sz="1300" b="1" dirty="0">
                          <a:solidFill>
                            <a:srgbClr val="2B2B2B"/>
                          </a:solidFill>
                          <a:latin typeface="Arial" pitchFamily="34" charset="0"/>
                          <a:ea typeface="Arial" pitchFamily="34" charset="-122"/>
                          <a:cs typeface="Arial" pitchFamily="34" charset="-120"/>
                        </a:rPr>
                        <a:t>Frontend</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BF4EA"/>
                    </a:solidFill>
                  </a:tcPr>
                </a:tc>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Blade · Vite 7 · Tailwind CSS 4 · JavaScript vanilla (AJAX)</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BF4EA"/>
                    </a:solidFill>
                  </a:tcPr>
                </a:tc>
              </a:tr>
              <a:tr h="475488">
                <a:tc>
                  <a:txBody>
                    <a:bodyPr/>
                    <a:lstStyle/>
                    <a:p>
                      <a:pPr algn="l" indent="0" marL="0">
                        <a:buNone/>
                      </a:pPr>
                      <a:r>
                        <a:rPr lang="en-US" sz="1300" b="1" dirty="0">
                          <a:solidFill>
                            <a:srgbClr val="2B2B2B"/>
                          </a:solidFill>
                          <a:latin typeface="Arial" pitchFamily="34" charset="0"/>
                          <a:ea typeface="Arial" pitchFamily="34" charset="-122"/>
                          <a:cs typeface="Arial" pitchFamily="34" charset="-120"/>
                        </a:rPr>
                        <a:t>Base de données</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BF4EA"/>
                    </a:solidFill>
                  </a:tcPr>
                </a:tc>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SQLite (par défaut) / MySQL</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BF4EA"/>
                    </a:solidFill>
                  </a:tcPr>
                </a:tc>
              </a:tr>
              <a:tr h="475488">
                <a:tc>
                  <a:txBody>
                    <a:bodyPr/>
                    <a:lstStyle/>
                    <a:p>
                      <a:pPr algn="l" indent="0" marL="0">
                        <a:buNone/>
                      </a:pPr>
                      <a:r>
                        <a:rPr lang="en-US" sz="1300" b="1" dirty="0">
                          <a:solidFill>
                            <a:srgbClr val="2B2B2B"/>
                          </a:solidFill>
                          <a:latin typeface="Arial" pitchFamily="34" charset="0"/>
                          <a:ea typeface="Arial" pitchFamily="34" charset="-122"/>
                          <a:cs typeface="Arial" pitchFamily="34" charset="-120"/>
                        </a:rPr>
                        <a:t>Authentification</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BF4EA"/>
                    </a:solidFill>
                  </a:tcPr>
                </a:tc>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Garde web Laravel + middlewares de rôle</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BF4EA"/>
                    </a:solidFill>
                  </a:tcPr>
                </a:tc>
              </a:tr>
              <a:tr h="475488">
                <a:tc>
                  <a:txBody>
                    <a:bodyPr/>
                    <a:lstStyle/>
                    <a:p>
                      <a:pPr algn="l" indent="0" marL="0">
                        <a:buNone/>
                      </a:pPr>
                      <a:r>
                        <a:rPr lang="en-US" sz="1300" b="1" dirty="0">
                          <a:solidFill>
                            <a:srgbClr val="2B2B2B"/>
                          </a:solidFill>
                          <a:latin typeface="Arial" pitchFamily="34" charset="0"/>
                          <a:ea typeface="Arial" pitchFamily="34" charset="-122"/>
                          <a:cs typeface="Arial" pitchFamily="34" charset="-120"/>
                        </a:rPr>
                        <a:t>Internationalisation</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BF4EA"/>
                    </a:solidFill>
                  </a:tcPr>
                </a:tc>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Traductions JSON __() + middleware de locale</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BF4EA"/>
                    </a:solidFill>
                  </a:tcPr>
                </a:tc>
              </a:tr>
              <a:tr h="475488">
                <a:tc>
                  <a:txBody>
                    <a:bodyPr/>
                    <a:lstStyle/>
                    <a:p>
                      <a:pPr algn="l" indent="0" marL="0">
                        <a:buNone/>
                      </a:pPr>
                      <a:r>
                        <a:rPr lang="en-US" sz="1300" b="1" dirty="0">
                          <a:solidFill>
                            <a:srgbClr val="2B2B2B"/>
                          </a:solidFill>
                          <a:latin typeface="Arial" pitchFamily="34" charset="0"/>
                          <a:ea typeface="Arial" pitchFamily="34" charset="-122"/>
                          <a:cs typeface="Arial" pitchFamily="34" charset="-120"/>
                        </a:rPr>
                        <a:t>Tests / Dev</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BF4EA"/>
                    </a:solidFill>
                  </a:tcPr>
                </a:tc>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PHPUnit 11 · Laravel Pail · Pint · Sail</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BF4EA"/>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B14A28"/>
          </a:solidFill>
          <a:ln/>
        </p:spPr>
      </p:sp>
      <p:sp>
        <p:nvSpPr>
          <p:cNvPr id="3" name="Shape 1"/>
          <p:cNvSpPr/>
          <p:nvPr/>
        </p:nvSpPr>
        <p:spPr>
          <a:xfrm>
            <a:off x="0" y="868680"/>
            <a:ext cx="9144000" cy="54864"/>
          </a:xfrm>
          <a:prstGeom prst="rect">
            <a:avLst/>
          </a:prstGeom>
          <a:solidFill>
            <a:srgbClr val="E8A33D"/>
          </a:solidFill>
          <a:ln/>
        </p:spPr>
      </p:sp>
      <p:sp>
        <p:nvSpPr>
          <p:cNvPr id="4" name="Text 2"/>
          <p:cNvSpPr/>
          <p:nvPr/>
        </p:nvSpPr>
        <p:spPr>
          <a:xfrm>
            <a:off x="365760" y="109728"/>
            <a:ext cx="8412480" cy="256032"/>
          </a:xfrm>
          <a:prstGeom prst="rect">
            <a:avLst/>
          </a:prstGeom>
          <a:noFill/>
          <a:ln/>
        </p:spPr>
        <p:txBody>
          <a:bodyPr wrap="square" rtlCol="0" anchor="ctr"/>
          <a:lstStyle/>
          <a:p>
            <a:pPr indent="0" marL="0">
              <a:buNone/>
            </a:pPr>
            <a:r>
              <a:rPr lang="en-US" sz="1100" b="1" spc="200" kern="0" dirty="0">
                <a:solidFill>
                  <a:srgbClr val="FFE2CC"/>
                </a:solidFill>
                <a:latin typeface="Arial" pitchFamily="34" charset="0"/>
                <a:ea typeface="Arial" pitchFamily="34" charset="-122"/>
                <a:cs typeface="Arial" pitchFamily="34" charset="-120"/>
              </a:rPr>
              <a:t>IV. OUTILS UTILISÉS</a:t>
            </a:r>
            <a:endParaRPr lang="en-US" sz="1100" dirty="0"/>
          </a:p>
        </p:txBody>
      </p:sp>
      <p:sp>
        <p:nvSpPr>
          <p:cNvPr id="5" name="Text 3"/>
          <p:cNvSpPr/>
          <p:nvPr/>
        </p:nvSpPr>
        <p:spPr>
          <a:xfrm>
            <a:off x="365760" y="329184"/>
            <a:ext cx="8412480" cy="50292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Justification des choix</a:t>
            </a:r>
            <a:endParaRPr lang="en-US" sz="2400" dirty="0"/>
          </a:p>
        </p:txBody>
      </p:sp>
      <p:sp>
        <p:nvSpPr>
          <p:cNvPr id="7" name="Shape 4"/>
          <p:cNvSpPr/>
          <p:nvPr/>
        </p:nvSpPr>
        <p:spPr>
          <a:xfrm>
            <a:off x="0" y="4901184"/>
            <a:ext cx="9144000" cy="242316"/>
          </a:xfrm>
          <a:prstGeom prst="rect">
            <a:avLst/>
          </a:prstGeom>
          <a:solidFill>
            <a:srgbClr val="FBF4EA"/>
          </a:solidFill>
          <a:ln/>
        </p:spPr>
      </p:sp>
      <p:sp>
        <p:nvSpPr>
          <p:cNvPr id="8" name="Text 5"/>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9" name="Text 6"/>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22</a:t>
            </a:r>
            <a:endParaRPr lang="en-US" sz="900" dirty="0"/>
          </a:p>
        </p:txBody>
      </p:sp>
      <p:sp>
        <p:nvSpPr>
          <p:cNvPr id="10" name="Text 7"/>
          <p:cNvSpPr/>
          <p:nvPr/>
        </p:nvSpPr>
        <p:spPr>
          <a:xfrm>
            <a:off x="502920" y="1371600"/>
            <a:ext cx="8138160" cy="3383280"/>
          </a:xfrm>
          <a:prstGeom prst="rect">
            <a:avLst/>
          </a:prstGeom>
          <a:noFill/>
          <a:ln/>
        </p:spPr>
        <p:txBody>
          <a:bodyPr wrap="square" rtlCol="0" anchor="t"/>
          <a:lstStyle/>
          <a:p>
            <a:pPr marL="228600" indent="-228600">
              <a:lnSpc>
                <a:spcPct val="105000"/>
              </a:lnSpc>
              <a:spcAft>
                <a:spcPts val="1000"/>
              </a:spcAft>
              <a:buSzPct val="100000"/>
              <a:buChar char="•"/>
            </a:pPr>
            <a:r>
              <a:rPr lang="en-US" sz="1600" b="1" dirty="0">
                <a:solidFill>
                  <a:srgbClr val="2B2B2B"/>
                </a:solidFill>
                <a:latin typeface="Arial" pitchFamily="34" charset="0"/>
                <a:ea typeface="Arial" pitchFamily="34" charset="-122"/>
                <a:cs typeface="Arial" pitchFamily="34" charset="-120"/>
              </a:rPr>
              <a:t>Laravel 12 (MVC) — robuste, sécurité intégrée (CSRF, validation, hachage).</a:t>
            </a:r>
            <a:endParaRPr lang="en-US" sz="1600" dirty="0"/>
          </a:p>
          <a:p>
            <a:pPr marL="228600" indent="-228600">
              <a:lnSpc>
                <a:spcPct val="105000"/>
              </a:lnSpc>
              <a:spcAft>
                <a:spcPts val="1000"/>
              </a:spcAft>
              <a:buSzPct val="100000"/>
              <a:buChar char="•"/>
            </a:pPr>
            <a:r>
              <a:rPr lang="en-US" sz="1600" dirty="0">
                <a:solidFill>
                  <a:srgbClr val="2B2B2B"/>
                </a:solidFill>
                <a:latin typeface="Arial" pitchFamily="34" charset="0"/>
                <a:ea typeface="Arial" pitchFamily="34" charset="-122"/>
                <a:cs typeface="Arial" pitchFamily="34" charset="-120"/>
              </a:rPr>
              <a:t>SQLite par défaut — démarrage immédiat ; bascule MySQL par configuration.</a:t>
            </a:r>
            <a:endParaRPr lang="en-US" sz="1600" dirty="0"/>
          </a:p>
          <a:p>
            <a:pPr marL="228600" indent="-228600">
              <a:lnSpc>
                <a:spcPct val="105000"/>
              </a:lnSpc>
              <a:spcAft>
                <a:spcPts val="1000"/>
              </a:spcAft>
              <a:buSzPct val="100000"/>
              <a:buChar char="•"/>
            </a:pPr>
            <a:r>
              <a:rPr lang="en-US" sz="1600" dirty="0">
                <a:solidFill>
                  <a:srgbClr val="2B2B2B"/>
                </a:solidFill>
                <a:latin typeface="Arial" pitchFamily="34" charset="0"/>
                <a:ea typeface="Arial" pitchFamily="34" charset="-122"/>
                <a:cs typeface="Arial" pitchFamily="34" charset="-120"/>
              </a:rPr>
              <a:t>Tailwind 4 + Vite 7 — design rapide, cohérent et responsive.</a:t>
            </a:r>
            <a:endParaRPr lang="en-US" sz="1600" dirty="0"/>
          </a:p>
          <a:p>
            <a:pPr marL="228600" indent="-228600">
              <a:lnSpc>
                <a:spcPct val="105000"/>
              </a:lnSpc>
              <a:spcAft>
                <a:spcPts val="1000"/>
              </a:spcAft>
              <a:buSzPct val="100000"/>
              <a:buChar char="•"/>
            </a:pPr>
            <a:r>
              <a:rPr lang="en-US" sz="1600" dirty="0">
                <a:solidFill>
                  <a:srgbClr val="2B2B2B"/>
                </a:solidFill>
                <a:latin typeface="Arial" pitchFamily="34" charset="0"/>
                <a:ea typeface="Arial" pitchFamily="34" charset="-122"/>
                <a:cs typeface="Arial" pitchFamily="34" charset="-120"/>
              </a:rPr>
              <a:t>Panier en session — éphémère, aucune table superflue.</a:t>
            </a:r>
            <a:endParaRPr lang="en-US" sz="1600" dirty="0"/>
          </a:p>
          <a:p>
            <a:pPr marL="228600" indent="-228600">
              <a:lnSpc>
                <a:spcPct val="105000"/>
              </a:lnSpc>
              <a:spcAft>
                <a:spcPts val="1000"/>
              </a:spcAft>
              <a:buSzPct val="100000"/>
              <a:buChar char="•"/>
            </a:pPr>
            <a:r>
              <a:rPr lang="en-US" sz="1600" dirty="0">
                <a:solidFill>
                  <a:srgbClr val="2B2B2B"/>
                </a:solidFill>
                <a:latin typeface="Arial" pitchFamily="34" charset="0"/>
                <a:ea typeface="Arial" pitchFamily="34" charset="-122"/>
                <a:cs typeface="Arial" pitchFamily="34" charset="-120"/>
              </a:rPr>
              <a:t>i18n par clés françaises — le français reste le repli naturel, fichiers minimaux.</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B14A28"/>
        </a:solidFill>
      </p:bgPr>
    </p:bg>
    <p:spTree>
      <p:nvGrpSpPr>
        <p:cNvPr id="1" name=""/>
        <p:cNvGrpSpPr/>
        <p:nvPr/>
      </p:nvGrpSpPr>
      <p:grpSpPr>
        <a:xfrm>
          <a:off x="0" y="0"/>
          <a:ext cx="0" cy="0"/>
          <a:chOff x="0" y="0"/>
          <a:chExt cx="0" cy="0"/>
        </a:xfrm>
      </p:grpSpPr>
      <p:sp>
        <p:nvSpPr>
          <p:cNvPr id="2" name="Shape 0"/>
          <p:cNvSpPr/>
          <p:nvPr/>
        </p:nvSpPr>
        <p:spPr>
          <a:xfrm>
            <a:off x="0" y="2148840"/>
            <a:ext cx="9144000" cy="54864"/>
          </a:xfrm>
          <a:prstGeom prst="rect">
            <a:avLst/>
          </a:prstGeom>
          <a:solidFill>
            <a:srgbClr val="E8A33D"/>
          </a:solidFill>
          <a:ln/>
        </p:spPr>
      </p:sp>
      <p:sp>
        <p:nvSpPr>
          <p:cNvPr id="3" name="Text 1"/>
          <p:cNvSpPr/>
          <p:nvPr/>
        </p:nvSpPr>
        <p:spPr>
          <a:xfrm>
            <a:off x="548640" y="1371600"/>
            <a:ext cx="2011680" cy="1463040"/>
          </a:xfrm>
          <a:prstGeom prst="rect">
            <a:avLst/>
          </a:prstGeom>
          <a:noFill/>
          <a:ln/>
        </p:spPr>
        <p:txBody>
          <a:bodyPr wrap="square" rtlCol="0" anchor="ctr"/>
          <a:lstStyle/>
          <a:p>
            <a:pPr algn="ctr" indent="0" marL="0">
              <a:buNone/>
            </a:pPr>
            <a:r>
              <a:rPr lang="en-US" sz="9600" b="1" dirty="0">
                <a:solidFill>
                  <a:srgbClr val="D98A63"/>
                </a:solidFill>
                <a:latin typeface="Arial" pitchFamily="34" charset="0"/>
                <a:ea typeface="Arial" pitchFamily="34" charset="-122"/>
                <a:cs typeface="Arial" pitchFamily="34" charset="-120"/>
              </a:rPr>
              <a:t>V</a:t>
            </a:r>
            <a:endParaRPr lang="en-US" sz="9600" dirty="0"/>
          </a:p>
        </p:txBody>
      </p:sp>
      <p:sp>
        <p:nvSpPr>
          <p:cNvPr id="4" name="Text 2"/>
          <p:cNvSpPr/>
          <p:nvPr/>
        </p:nvSpPr>
        <p:spPr>
          <a:xfrm>
            <a:off x="2651760" y="2194560"/>
            <a:ext cx="6035040" cy="128016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Conclusion</a:t>
            </a:r>
            <a:endParaRPr lang="en-US" sz="3200" dirty="0"/>
          </a:p>
        </p:txBody>
      </p:sp>
      <p:sp>
        <p:nvSpPr>
          <p:cNvPr id="6" name="Shape 3"/>
          <p:cNvSpPr/>
          <p:nvPr/>
        </p:nvSpPr>
        <p:spPr>
          <a:xfrm>
            <a:off x="0" y="4901184"/>
            <a:ext cx="9144000" cy="242316"/>
          </a:xfrm>
          <a:prstGeom prst="rect">
            <a:avLst/>
          </a:prstGeom>
          <a:solidFill>
            <a:srgbClr val="FBF4EA"/>
          </a:solidFill>
          <a:ln/>
        </p:spPr>
      </p:sp>
      <p:sp>
        <p:nvSpPr>
          <p:cNvPr id="7" name="Text 4"/>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8" name="Text 5"/>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B14A28"/>
          </a:solidFill>
          <a:ln/>
        </p:spPr>
      </p:sp>
      <p:sp>
        <p:nvSpPr>
          <p:cNvPr id="3" name="Shape 1"/>
          <p:cNvSpPr/>
          <p:nvPr/>
        </p:nvSpPr>
        <p:spPr>
          <a:xfrm>
            <a:off x="0" y="868680"/>
            <a:ext cx="9144000" cy="54864"/>
          </a:xfrm>
          <a:prstGeom prst="rect">
            <a:avLst/>
          </a:prstGeom>
          <a:solidFill>
            <a:srgbClr val="E8A33D"/>
          </a:solidFill>
          <a:ln/>
        </p:spPr>
      </p:sp>
      <p:sp>
        <p:nvSpPr>
          <p:cNvPr id="4" name="Text 2"/>
          <p:cNvSpPr/>
          <p:nvPr/>
        </p:nvSpPr>
        <p:spPr>
          <a:xfrm>
            <a:off x="365760" y="109728"/>
            <a:ext cx="8412480" cy="256032"/>
          </a:xfrm>
          <a:prstGeom prst="rect">
            <a:avLst/>
          </a:prstGeom>
          <a:noFill/>
          <a:ln/>
        </p:spPr>
        <p:txBody>
          <a:bodyPr wrap="square" rtlCol="0" anchor="ctr"/>
          <a:lstStyle/>
          <a:p>
            <a:pPr indent="0" marL="0">
              <a:buNone/>
            </a:pPr>
            <a:r>
              <a:rPr lang="en-US" sz="1100" b="1" spc="200" kern="0" dirty="0">
                <a:solidFill>
                  <a:srgbClr val="FFE2CC"/>
                </a:solidFill>
                <a:latin typeface="Arial" pitchFamily="34" charset="0"/>
                <a:ea typeface="Arial" pitchFamily="34" charset="-122"/>
                <a:cs typeface="Arial" pitchFamily="34" charset="-120"/>
              </a:rPr>
              <a:t>V. CONCLUSION</a:t>
            </a:r>
            <a:endParaRPr lang="en-US" sz="1100" dirty="0"/>
          </a:p>
        </p:txBody>
      </p:sp>
      <p:sp>
        <p:nvSpPr>
          <p:cNvPr id="5" name="Text 3"/>
          <p:cNvSpPr/>
          <p:nvPr/>
        </p:nvSpPr>
        <p:spPr>
          <a:xfrm>
            <a:off x="365760" y="329184"/>
            <a:ext cx="8412480" cy="50292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Une application complète, sécurisée et multilingue</a:t>
            </a:r>
            <a:endParaRPr lang="en-US" sz="2400" dirty="0"/>
          </a:p>
        </p:txBody>
      </p:sp>
      <p:sp>
        <p:nvSpPr>
          <p:cNvPr id="7" name="Shape 4"/>
          <p:cNvSpPr/>
          <p:nvPr/>
        </p:nvSpPr>
        <p:spPr>
          <a:xfrm>
            <a:off x="0" y="4901184"/>
            <a:ext cx="9144000" cy="242316"/>
          </a:xfrm>
          <a:prstGeom prst="rect">
            <a:avLst/>
          </a:prstGeom>
          <a:solidFill>
            <a:srgbClr val="FBF4EA"/>
          </a:solidFill>
          <a:ln/>
        </p:spPr>
      </p:sp>
      <p:sp>
        <p:nvSpPr>
          <p:cNvPr id="8" name="Text 5"/>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9" name="Text 6"/>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24</a:t>
            </a:r>
            <a:endParaRPr lang="en-US" sz="900" dirty="0"/>
          </a:p>
        </p:txBody>
      </p:sp>
      <p:sp>
        <p:nvSpPr>
          <p:cNvPr id="10" name="Text 7"/>
          <p:cNvSpPr/>
          <p:nvPr/>
        </p:nvSpPr>
        <p:spPr>
          <a:xfrm>
            <a:off x="502920" y="1325880"/>
            <a:ext cx="8138160" cy="3383280"/>
          </a:xfrm>
          <a:prstGeom prst="rect">
            <a:avLst/>
          </a:prstGeom>
          <a:noFill/>
          <a:ln/>
        </p:spPr>
        <p:txBody>
          <a:bodyPr wrap="square" rtlCol="0" anchor="t"/>
          <a:lstStyle/>
          <a:p>
            <a:pPr marL="228600" indent="-228600">
              <a:lnSpc>
                <a:spcPct val="105000"/>
              </a:lnSpc>
              <a:spcAft>
                <a:spcPts val="1000"/>
              </a:spcAft>
              <a:buSzPct val="100000"/>
              <a:buChar char="•"/>
            </a:pPr>
            <a:r>
              <a:rPr lang="en-US" sz="1600" b="1" dirty="0">
                <a:solidFill>
                  <a:srgbClr val="4E7D3A"/>
                </a:solidFill>
                <a:latin typeface="Arial" pitchFamily="34" charset="0"/>
                <a:ea typeface="Arial" pitchFamily="34" charset="-122"/>
                <a:cs typeface="Arial" pitchFamily="34" charset="-120"/>
              </a:rPr>
              <a:t>Parcours client complet : menu → panier → commande → suivi.</a:t>
            </a:r>
            <a:endParaRPr lang="en-US" sz="1600" dirty="0"/>
          </a:p>
          <a:p>
            <a:pPr marL="228600" indent="-228600">
              <a:lnSpc>
                <a:spcPct val="105000"/>
              </a:lnSpc>
              <a:spcAft>
                <a:spcPts val="1000"/>
              </a:spcAft>
              <a:buSzPct val="100000"/>
              <a:buChar char="•"/>
            </a:pPr>
            <a:r>
              <a:rPr lang="en-US" sz="1600" b="1" dirty="0">
                <a:solidFill>
                  <a:srgbClr val="4E7D3A"/>
                </a:solidFill>
                <a:latin typeface="Arial" pitchFamily="34" charset="0"/>
                <a:ea typeface="Arial" pitchFamily="34" charset="-122"/>
                <a:cs typeface="Arial" pitchFamily="34" charset="-120"/>
              </a:rPr>
              <a:t>Gestion gérant complète : carte, catégories, clients, commandes, tableau de bord.</a:t>
            </a:r>
            <a:endParaRPr lang="en-US" sz="1600" dirty="0"/>
          </a:p>
          <a:p>
            <a:pPr marL="228600" indent="-228600">
              <a:lnSpc>
                <a:spcPct val="105000"/>
              </a:lnSpc>
              <a:spcAft>
                <a:spcPts val="1000"/>
              </a:spcAft>
              <a:buSzPct val="100000"/>
              <a:buChar char="•"/>
            </a:pPr>
            <a:r>
              <a:rPr lang="en-US" sz="1600" b="1" dirty="0">
                <a:solidFill>
                  <a:srgbClr val="4E7D3A"/>
                </a:solidFill>
                <a:latin typeface="Arial" pitchFamily="34" charset="0"/>
                <a:ea typeface="Arial" pitchFamily="34" charset="-122"/>
                <a:cs typeface="Arial" pitchFamily="34" charset="-120"/>
              </a:rPr>
              <a:t>Bonnes pratiques : transactions, prix figés, anti mass-assignment, validation, upload sécurisé, seeders idempotents.</a:t>
            </a:r>
            <a:endParaRPr lang="en-US" sz="1600" dirty="0"/>
          </a:p>
        </p:txBody>
      </p:sp>
      <p:sp>
        <p:nvSpPr>
          <p:cNvPr id="11" name="Shape 8"/>
          <p:cNvSpPr/>
          <p:nvPr/>
        </p:nvSpPr>
        <p:spPr>
          <a:xfrm>
            <a:off x="502920" y="3520440"/>
            <a:ext cx="8138160" cy="960120"/>
          </a:xfrm>
          <a:prstGeom prst="roundRect">
            <a:avLst>
              <a:gd name="adj" fmla="val 5714"/>
            </a:avLst>
          </a:prstGeom>
          <a:solidFill>
            <a:srgbClr val="FBF4EA"/>
          </a:solidFill>
          <a:ln w="12700">
            <a:solidFill>
              <a:srgbClr val="B14A28"/>
            </a:solidFill>
            <a:prstDash val="solid"/>
          </a:ln>
        </p:spPr>
      </p:sp>
      <p:sp>
        <p:nvSpPr>
          <p:cNvPr id="12" name="Text 9"/>
          <p:cNvSpPr/>
          <p:nvPr/>
        </p:nvSpPr>
        <p:spPr>
          <a:xfrm>
            <a:off x="731520" y="3566160"/>
            <a:ext cx="7680960" cy="868680"/>
          </a:xfrm>
          <a:prstGeom prst="rect">
            <a:avLst/>
          </a:prstGeom>
          <a:noFill/>
          <a:ln/>
        </p:spPr>
        <p:txBody>
          <a:bodyPr wrap="square" rtlCol="0" anchor="ctr"/>
          <a:lstStyle/>
          <a:p>
            <a:pPr indent="0" marL="0">
              <a:buNone/>
            </a:pPr>
            <a:r>
              <a:rPr lang="en-US" sz="1350" b="1" dirty="0">
                <a:solidFill>
                  <a:srgbClr val="B14A28"/>
                </a:solidFill>
                <a:latin typeface="Arial" pitchFamily="34" charset="0"/>
                <a:ea typeface="Arial" pitchFamily="34" charset="-122"/>
                <a:cs typeface="Arial" pitchFamily="34" charset="-120"/>
              </a:rPr>
              <a:t>Point bloquant résolu  —  </a:t>
            </a:r>
            <a:pPr indent="0" marL="0">
              <a:buNone/>
            </a:pPr>
            <a:r>
              <a:rPr lang="en-US" sz="1350" dirty="0">
                <a:solidFill>
                  <a:srgbClr val="2B2B2B"/>
                </a:solidFill>
                <a:latin typeface="Arial" pitchFamily="34" charset="0"/>
                <a:ea typeface="Arial" pitchFamily="34" charset="-122"/>
                <a:cs typeface="Arial" pitchFamily="34" charset="-120"/>
              </a:rPr>
              <a:t>les routes /admin sont désormais protégées par authentification et contrôle de rôle, avec un écran de connexion dédié. L'application est prête à être exploitée.</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B14A28"/>
          </a:solidFill>
          <a:ln/>
        </p:spPr>
      </p:sp>
      <p:sp>
        <p:nvSpPr>
          <p:cNvPr id="3" name="Shape 1"/>
          <p:cNvSpPr/>
          <p:nvPr/>
        </p:nvSpPr>
        <p:spPr>
          <a:xfrm>
            <a:off x="0" y="868680"/>
            <a:ext cx="9144000" cy="54864"/>
          </a:xfrm>
          <a:prstGeom prst="rect">
            <a:avLst/>
          </a:prstGeom>
          <a:solidFill>
            <a:srgbClr val="E8A33D"/>
          </a:solidFill>
          <a:ln/>
        </p:spPr>
      </p:sp>
      <p:sp>
        <p:nvSpPr>
          <p:cNvPr id="4" name="Text 2"/>
          <p:cNvSpPr/>
          <p:nvPr/>
        </p:nvSpPr>
        <p:spPr>
          <a:xfrm>
            <a:off x="365760" y="109728"/>
            <a:ext cx="8412480" cy="256032"/>
          </a:xfrm>
          <a:prstGeom prst="rect">
            <a:avLst/>
          </a:prstGeom>
          <a:noFill/>
          <a:ln/>
        </p:spPr>
        <p:txBody>
          <a:bodyPr wrap="square" rtlCol="0" anchor="ctr"/>
          <a:lstStyle/>
          <a:p>
            <a:pPr indent="0" marL="0">
              <a:buNone/>
            </a:pPr>
            <a:r>
              <a:rPr lang="en-US" sz="1100" b="1" spc="200" kern="0" dirty="0">
                <a:solidFill>
                  <a:srgbClr val="FFE2CC"/>
                </a:solidFill>
                <a:latin typeface="Arial" pitchFamily="34" charset="0"/>
                <a:ea typeface="Arial" pitchFamily="34" charset="-122"/>
                <a:cs typeface="Arial" pitchFamily="34" charset="-120"/>
              </a:rPr>
              <a:t>V. CONCLUSION</a:t>
            </a:r>
            <a:endParaRPr lang="en-US" sz="1100" dirty="0"/>
          </a:p>
        </p:txBody>
      </p:sp>
      <p:sp>
        <p:nvSpPr>
          <p:cNvPr id="5" name="Text 3"/>
          <p:cNvSpPr/>
          <p:nvPr/>
        </p:nvSpPr>
        <p:spPr>
          <a:xfrm>
            <a:off x="365760" y="329184"/>
            <a:ext cx="8412480" cy="50292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Perspectives d'évolution</a:t>
            </a:r>
            <a:endParaRPr lang="en-US" sz="2400" dirty="0"/>
          </a:p>
        </p:txBody>
      </p:sp>
      <p:sp>
        <p:nvSpPr>
          <p:cNvPr id="7" name="Shape 4"/>
          <p:cNvSpPr/>
          <p:nvPr/>
        </p:nvSpPr>
        <p:spPr>
          <a:xfrm>
            <a:off x="0" y="4901184"/>
            <a:ext cx="9144000" cy="242316"/>
          </a:xfrm>
          <a:prstGeom prst="rect">
            <a:avLst/>
          </a:prstGeom>
          <a:solidFill>
            <a:srgbClr val="FBF4EA"/>
          </a:solidFill>
          <a:ln/>
        </p:spPr>
      </p:sp>
      <p:sp>
        <p:nvSpPr>
          <p:cNvPr id="8" name="Text 5"/>
          <p:cNvSpPr/>
          <p:nvPr/>
        </p:nvSpPr>
        <p:spPr>
          <a:xfrm>
            <a:off x="365760" y="4901184"/>
            <a:ext cx="5486400" cy="242316"/>
          </a:xfrm>
          <a:prstGeom prst="rect">
            <a:avLst/>
          </a:prstGeom>
          <a:noFill/>
          <a:ln/>
        </p:spPr>
        <p:txBody>
          <a:bodyPr wrap="square" rtlCol="0" anchor="ctr"/>
          <a:lstStyle/>
          <a:p>
            <a:pPr algn="l" indent="0" marL="0">
              <a:buNone/>
            </a:pPr>
            <a:r>
              <a:rPr lang="en-US" sz="900" dirty="0">
                <a:solidFill>
                  <a:srgbClr val="6B6B6B"/>
                </a:solidFill>
                <a:latin typeface="Arial" pitchFamily="34" charset="0"/>
                <a:ea typeface="Arial" pitchFamily="34" charset="-122"/>
                <a:cs typeface="Arial" pitchFamily="34" charset="-120"/>
              </a:rPr>
              <a:t>Riad Saveurs — Plateforme de commande en ligne</a:t>
            </a:r>
            <a:endParaRPr lang="en-US" sz="900" dirty="0"/>
          </a:p>
        </p:txBody>
      </p:sp>
      <p:sp>
        <p:nvSpPr>
          <p:cNvPr id="9" name="Text 6"/>
          <p:cNvSpPr/>
          <p:nvPr/>
        </p:nvSpPr>
        <p:spPr>
          <a:xfrm>
            <a:off x="8321040" y="4901184"/>
            <a:ext cx="457200" cy="242316"/>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25</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2103120"/>
                <a:gridCol w="6035040"/>
              </a:tblGrid>
              <a:tr h="566928">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Priorité</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B14A28"/>
                    </a:solidFill>
                  </a:tcPr>
                </a:tc>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Amélioration</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B14A28"/>
                    </a:solidFill>
                  </a:tcPr>
                </a:tc>
              </a:tr>
              <a:tr h="566928">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  Moyenne</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Notifications client (email / SMS) au changement de statut</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  Basse</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Paiement en ligne</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  Basse</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Espace client authentifié avec historique de commandes</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  Basse</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Arial" pitchFamily="34" charset="0"/>
                          <a:ea typeface="Arial" pitchFamily="34" charset="-122"/>
                          <a:cs typeface="Arial" pitchFamily="34" charset="-120"/>
                        </a:rPr>
                        <a:t>Traduction du contenu de la carte (base de données)</a:t>
                      </a:r>
                      <a:endParaRPr lang="en-US" sz="1300" dirty="0">
                        <a:latin typeface="Arial" charset="0"/>
                        <a:ea typeface="Arial" charset="0"/>
                        <a:cs typeface="Arial" charset="0"/>
                      </a:endParaRPr>
                    </a:p>
                  </a:txBody>
                  <a:tcPr marL="91440" marR="91440" marT="45720" marB="45720" anchor="ctr">
                    <a:lnL w="12700" cap="flat" cmpd="sng" algn="ctr">
                      <a:solidFill>
                        <a:srgbClr val="EADBC4"/>
                      </a:solidFill>
                      <a:prstDash val="solid"/>
                      <a:round/>
                      <a:headEnd type="none" w="med" len="med"/>
                      <a:tailEnd type="none" w="med" len="med"/>
                    </a:lnL>
                    <a:lnR w="12700" cap="flat" cmpd="sng" algn="ctr">
                      <a:solidFill>
                        <a:srgbClr val="EADBC4"/>
                      </a:solidFill>
                      <a:prstDash val="solid"/>
                      <a:round/>
                      <a:headEnd type="none" w="med" len="med"/>
                      <a:tailEnd type="none" w="med" len="med"/>
                    </a:lnR>
                    <a:lnT w="12700" cap="flat" cmpd="sng" algn="ctr">
                      <a:solidFill>
                        <a:srgbClr val="EADBC4"/>
                      </a:solidFill>
                      <a:prstDash val="solid"/>
                      <a:round/>
                      <a:headEnd type="none" w="med" len="med"/>
                      <a:tailEnd type="none" w="med" len="med"/>
                    </a:lnT>
                    <a:lnB w="12700" cap="flat" cmpd="sng" algn="ctr">
                      <a:solidFill>
                        <a:srgbClr val="EADBC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B14A28"/>
        </a:solidFill>
      </p:bgPr>
    </p:bg>
    <p:spTree>
      <p:nvGrpSpPr>
        <p:cNvPr id="1" name=""/>
        <p:cNvGrpSpPr/>
        <p:nvPr/>
      </p:nvGrpSpPr>
      <p:grpSpPr>
        <a:xfrm>
          <a:off x="0" y="0"/>
          <a:ext cx="0" cy="0"/>
          <a:chOff x="0" y="0"/>
          <a:chExt cx="0" cy="0"/>
        </a:xfrm>
      </p:grpSpPr>
      <p:sp>
        <p:nvSpPr>
          <p:cNvPr id="2" name="Shape 0"/>
          <p:cNvSpPr/>
          <p:nvPr/>
        </p:nvSpPr>
        <p:spPr>
          <a:xfrm>
            <a:off x="0" y="2788920"/>
            <a:ext cx="9144000" cy="54864"/>
          </a:xfrm>
          <a:prstGeom prst="rect">
            <a:avLst/>
          </a:prstGeom>
          <a:solidFill>
            <a:srgbClr val="E8A33D"/>
          </a:solidFill>
          <a:ln/>
        </p:spPr>
      </p:sp>
      <p:sp>
        <p:nvSpPr>
          <p:cNvPr id="3" name="Text 1"/>
          <p:cNvSpPr/>
          <p:nvPr/>
        </p:nvSpPr>
        <p:spPr>
          <a:xfrm>
            <a:off x="457200" y="1737360"/>
            <a:ext cx="8229600" cy="822960"/>
          </a:xfrm>
          <a:prstGeom prst="rect">
            <a:avLst/>
          </a:prstGeom>
          <a:noFill/>
          <a:ln/>
        </p:spPr>
        <p:txBody>
          <a:bodyPr wrap="square" rtlCol="0" anchor="ctr"/>
          <a:lstStyle/>
          <a:p>
            <a:pPr algn="ctr" indent="0" marL="0">
              <a:buNone/>
            </a:pPr>
            <a:r>
              <a:rPr lang="en-US" sz="3800" b="1" dirty="0">
                <a:solidFill>
                  <a:srgbClr val="FFFFFF"/>
                </a:solidFill>
                <a:latin typeface="Arial" pitchFamily="34" charset="0"/>
                <a:ea typeface="Arial" pitchFamily="34" charset="-122"/>
                <a:cs typeface="Arial" pitchFamily="34" charset="-120"/>
              </a:rPr>
              <a:t>Merci de votre attention</a:t>
            </a:r>
            <a:endParaRPr lang="en-US" sz="3800" dirty="0"/>
          </a:p>
        </p:txBody>
      </p:sp>
      <p:sp>
        <p:nvSpPr>
          <p:cNvPr id="4" name="Text 2"/>
          <p:cNvSpPr/>
          <p:nvPr/>
        </p:nvSpPr>
        <p:spPr>
          <a:xfrm>
            <a:off x="457200" y="2926080"/>
            <a:ext cx="8229600" cy="457200"/>
          </a:xfrm>
          <a:prstGeom prst="rect">
            <a:avLst/>
          </a:prstGeom>
          <a:noFill/>
          <a:ln/>
        </p:spPr>
        <p:txBody>
          <a:bodyPr wrap="square" rtlCol="0" anchor="ctr"/>
          <a:lstStyle/>
          <a:p>
            <a:pPr algn="ctr" indent="0" marL="0">
              <a:buNone/>
            </a:pPr>
            <a:r>
              <a:rPr lang="en-US" sz="1500" dirty="0">
                <a:solidFill>
                  <a:srgbClr val="FFE2CC"/>
                </a:solidFill>
                <a:latin typeface="Arial" pitchFamily="34" charset="0"/>
                <a:ea typeface="Arial" pitchFamily="34" charset="-122"/>
                <a:cs typeface="Arial" pitchFamily="34" charset="-120"/>
              </a:rPr>
              <a:t>Riad Saveurs — Cuisine marocaine traditionnelle  ·  Laravel 12  ·  FR · EN · AR</a:t>
            </a:r>
            <a:endParaRPr lang="en-US" sz="1500" dirty="0"/>
          </a:p>
        </p:txBody>
      </p:sp>
      <p:sp>
        <p:nvSpPr>
          <p:cNvPr id="5" name="Text 3"/>
          <p:cNvSpPr/>
          <p:nvPr/>
        </p:nvSpPr>
        <p:spPr>
          <a:xfrm>
            <a:off x="457200" y="3611880"/>
            <a:ext cx="8229600" cy="548640"/>
          </a:xfrm>
          <a:prstGeom prst="rect">
            <a:avLst/>
          </a:prstGeom>
          <a:noFill/>
          <a:ln/>
        </p:spPr>
        <p:txBody>
          <a:bodyPr wrap="square" rtlCol="0" anchor="ctr"/>
          <a:lstStyle/>
          <a:p>
            <a:pPr algn="ctr" indent="0" marL="0">
              <a:buNone/>
            </a:pPr>
            <a:r>
              <a:rPr lang="en-US" sz="2000" b="1" i="1" dirty="0">
                <a:solidFill>
                  <a:srgbClr val="E8A33D"/>
                </a:solidFill>
                <a:latin typeface="Arial" pitchFamily="34" charset="0"/>
                <a:ea typeface="Arial" pitchFamily="34" charset="-122"/>
                <a:cs typeface="Arial" pitchFamily="34" charset="-120"/>
              </a:rPr>
              <a:t>Questions ?</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Riad Saveurs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Riad Saveurs — Présentation du projet</dc:title>
  <dc:subject>PptxGenJS Presentation</dc:subject>
  <dc:creator>Kamal EL MAGOURI</dc:creator>
  <cp:lastModifiedBy>Kamal EL MAGOURI</cp:lastModifiedBy>
  <cp:revision>1</cp:revision>
  <dcterms:created xsi:type="dcterms:W3CDTF">2026-06-22T11:38:09Z</dcterms:created>
  <dcterms:modified xsi:type="dcterms:W3CDTF">2026-06-22T11:38:09Z</dcterms:modified>
</cp:coreProperties>
</file>